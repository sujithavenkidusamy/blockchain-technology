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68" r:id="rId2"/>
    <p:sldId id="269" r:id="rId3"/>
    <p:sldId id="271" r:id="rId4"/>
    <p:sldId id="284" r:id="rId5"/>
    <p:sldId id="273" r:id="rId6"/>
    <p:sldId id="274" r:id="rId7"/>
    <p:sldId id="287" r:id="rId8"/>
    <p:sldId id="288" r:id="rId9"/>
    <p:sldId id="289" r:id="rId10"/>
    <p:sldId id="290" r:id="rId11"/>
    <p:sldId id="291" r:id="rId12"/>
    <p:sldId id="293" r:id="rId13"/>
    <p:sldId id="295" r:id="rId14"/>
    <p:sldId id="296" r:id="rId15"/>
    <p:sldId id="297" r:id="rId16"/>
    <p:sldId id="298" r:id="rId17"/>
    <p:sldId id="285" r:id="rId18"/>
    <p:sldId id="299"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51" d="100"/>
          <a:sy n="51" d="100"/>
        </p:scale>
        <p:origin x="888"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iagrams/_rels/data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_rels/drawing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1040861-C0DE-4AD4-8BCA-0F59E5C13FB5}"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0DDBA25D-D7A7-4B87-A22F-8CCAF876F7A2}">
      <dgm:prSet/>
      <dgm:spPr/>
      <dgm:t>
        <a:bodyPr/>
        <a:lstStyle/>
        <a:p>
          <a:r>
            <a:rPr lang="en-US" b="0"/>
            <a:t>Blockchain technology is a digital ledger system that records, stores, and verifies data in a secure, distributed, and immutable way.</a:t>
          </a:r>
        </a:p>
      </dgm:t>
    </dgm:pt>
    <dgm:pt modelId="{24879E95-EEB2-44BB-B8F8-A37D2D53C3E0}" type="parTrans" cxnId="{9F2CA04A-086A-43DF-B9E4-8AB3E52A2A33}">
      <dgm:prSet/>
      <dgm:spPr/>
      <dgm:t>
        <a:bodyPr/>
        <a:lstStyle/>
        <a:p>
          <a:endParaRPr lang="en-US"/>
        </a:p>
      </dgm:t>
    </dgm:pt>
    <dgm:pt modelId="{AD0E0A18-020A-4FE3-9C6B-9DDCA16BCCA4}" type="sibTrans" cxnId="{9F2CA04A-086A-43DF-B9E4-8AB3E52A2A33}">
      <dgm:prSet/>
      <dgm:spPr/>
      <dgm:t>
        <a:bodyPr/>
        <a:lstStyle/>
        <a:p>
          <a:endParaRPr lang="en-US"/>
        </a:p>
      </dgm:t>
    </dgm:pt>
    <dgm:pt modelId="{499730B3-A47A-4B27-B3D7-3D85C0E3364B}">
      <dgm:prSet/>
      <dgm:spPr/>
      <dgm:t>
        <a:bodyPr/>
        <a:lstStyle/>
        <a:p>
          <a:r>
            <a:rPr lang="en-US"/>
            <a:t>It is a decentralized system that enables the transfer of digital assets without the need for a trusted third party.</a:t>
          </a:r>
        </a:p>
      </dgm:t>
    </dgm:pt>
    <dgm:pt modelId="{D67D7DE2-40A7-4C70-9B1D-288B64951852}" type="parTrans" cxnId="{0C004241-6FDF-4B68-A50A-B458A92AC369}">
      <dgm:prSet/>
      <dgm:spPr/>
      <dgm:t>
        <a:bodyPr/>
        <a:lstStyle/>
        <a:p>
          <a:endParaRPr lang="en-US"/>
        </a:p>
      </dgm:t>
    </dgm:pt>
    <dgm:pt modelId="{D80E9982-4095-47E3-AE0F-F5C9936473F2}" type="sibTrans" cxnId="{0C004241-6FDF-4B68-A50A-B458A92AC369}">
      <dgm:prSet/>
      <dgm:spPr/>
      <dgm:t>
        <a:bodyPr/>
        <a:lstStyle/>
        <a:p>
          <a:endParaRPr lang="en-US"/>
        </a:p>
      </dgm:t>
    </dgm:pt>
    <dgm:pt modelId="{EC5E17EE-A839-4DFD-BFE2-A03C9BAE3C18}">
      <dgm:prSet/>
      <dgm:spPr/>
      <dgm:t>
        <a:bodyPr/>
        <a:lstStyle/>
        <a:p>
          <a:r>
            <a:rPr lang="en-US" dirty="0"/>
            <a:t>Blockchain technology has the potential to revolutionize many industries and the way we conduct business. It can be used to securely store and transfer data, create smart contracts, and provide a secure platform for digital asset trading.</a:t>
          </a:r>
        </a:p>
      </dgm:t>
    </dgm:pt>
    <dgm:pt modelId="{CCD2C025-1BF1-4E5C-96CB-E55421146B8C}" type="parTrans" cxnId="{E89FC6E0-55FF-4450-B7F3-DA99DC7A6AFA}">
      <dgm:prSet/>
      <dgm:spPr/>
      <dgm:t>
        <a:bodyPr/>
        <a:lstStyle/>
        <a:p>
          <a:endParaRPr lang="en-US"/>
        </a:p>
      </dgm:t>
    </dgm:pt>
    <dgm:pt modelId="{99040276-EE20-440E-BE6F-9F738ECBCA7E}" type="sibTrans" cxnId="{E89FC6E0-55FF-4450-B7F3-DA99DC7A6AFA}">
      <dgm:prSet/>
      <dgm:spPr/>
      <dgm:t>
        <a:bodyPr/>
        <a:lstStyle/>
        <a:p>
          <a:endParaRPr lang="en-US"/>
        </a:p>
      </dgm:t>
    </dgm:pt>
    <dgm:pt modelId="{E441B3A1-6475-417D-A08F-9BC5E63DDC2F}" type="pres">
      <dgm:prSet presAssocID="{51040861-C0DE-4AD4-8BCA-0F59E5C13FB5}" presName="root" presStyleCnt="0">
        <dgm:presLayoutVars>
          <dgm:dir/>
          <dgm:resizeHandles val="exact"/>
        </dgm:presLayoutVars>
      </dgm:prSet>
      <dgm:spPr/>
    </dgm:pt>
    <dgm:pt modelId="{85FCCFD6-4376-4C42-A531-A2EDFCE31511}" type="pres">
      <dgm:prSet presAssocID="{0DDBA25D-D7A7-4B87-A22F-8CCAF876F7A2}" presName="compNode" presStyleCnt="0"/>
      <dgm:spPr/>
    </dgm:pt>
    <dgm:pt modelId="{3C87DC25-B9A7-4087-B895-84CFD7EA4DEC}" type="pres">
      <dgm:prSet presAssocID="{0DDBA25D-D7A7-4B87-A22F-8CCAF876F7A2}" presName="bgRect" presStyleLbl="bgShp" presStyleIdx="0" presStyleCnt="3" custLinFactNeighborY="-927"/>
      <dgm:spPr/>
    </dgm:pt>
    <dgm:pt modelId="{22CB5DB5-6AFC-4A61-9CFF-148D7B937AE6}" type="pres">
      <dgm:prSet presAssocID="{0DDBA25D-D7A7-4B87-A22F-8CCAF876F7A2}"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Unlock"/>
        </a:ext>
      </dgm:extLst>
    </dgm:pt>
    <dgm:pt modelId="{52BAE788-1D63-4F0A-9C69-CDA1EA1C3DFF}" type="pres">
      <dgm:prSet presAssocID="{0DDBA25D-D7A7-4B87-A22F-8CCAF876F7A2}" presName="spaceRect" presStyleCnt="0"/>
      <dgm:spPr/>
    </dgm:pt>
    <dgm:pt modelId="{B1D83A4F-B37D-4547-A28F-9C7819D8FA23}" type="pres">
      <dgm:prSet presAssocID="{0DDBA25D-D7A7-4B87-A22F-8CCAF876F7A2}" presName="parTx" presStyleLbl="revTx" presStyleIdx="0" presStyleCnt="3">
        <dgm:presLayoutVars>
          <dgm:chMax val="0"/>
          <dgm:chPref val="0"/>
        </dgm:presLayoutVars>
      </dgm:prSet>
      <dgm:spPr/>
    </dgm:pt>
    <dgm:pt modelId="{3FF72A16-8D6A-4E87-8D63-A6EEBDC49819}" type="pres">
      <dgm:prSet presAssocID="{AD0E0A18-020A-4FE3-9C6B-9DDCA16BCCA4}" presName="sibTrans" presStyleCnt="0"/>
      <dgm:spPr/>
    </dgm:pt>
    <dgm:pt modelId="{CADDD55C-EA0F-4809-AED2-E12905559008}" type="pres">
      <dgm:prSet presAssocID="{499730B3-A47A-4B27-B3D7-3D85C0E3364B}" presName="compNode" presStyleCnt="0"/>
      <dgm:spPr/>
    </dgm:pt>
    <dgm:pt modelId="{3D774FC1-DFB8-4027-9A78-7295B2DD2A98}" type="pres">
      <dgm:prSet presAssocID="{499730B3-A47A-4B27-B3D7-3D85C0E3364B}" presName="bgRect" presStyleLbl="bgShp" presStyleIdx="1" presStyleCnt="3" custLinFactNeighborY="-2652"/>
      <dgm:spPr/>
    </dgm:pt>
    <dgm:pt modelId="{00C8DDCE-C715-47AA-BEB1-2D7C56BD9412}" type="pres">
      <dgm:prSet presAssocID="{499730B3-A47A-4B27-B3D7-3D85C0E3364B}"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itcoin"/>
        </a:ext>
      </dgm:extLst>
    </dgm:pt>
    <dgm:pt modelId="{7EF41D43-3B5E-473B-BE93-0167EA4A8B83}" type="pres">
      <dgm:prSet presAssocID="{499730B3-A47A-4B27-B3D7-3D85C0E3364B}" presName="spaceRect" presStyleCnt="0"/>
      <dgm:spPr/>
    </dgm:pt>
    <dgm:pt modelId="{6294BAD2-5DB3-4BF5-A47A-74A4A683B901}" type="pres">
      <dgm:prSet presAssocID="{499730B3-A47A-4B27-B3D7-3D85C0E3364B}" presName="parTx" presStyleLbl="revTx" presStyleIdx="1" presStyleCnt="3">
        <dgm:presLayoutVars>
          <dgm:chMax val="0"/>
          <dgm:chPref val="0"/>
        </dgm:presLayoutVars>
      </dgm:prSet>
      <dgm:spPr/>
    </dgm:pt>
    <dgm:pt modelId="{B6E6FFC7-0B65-43ED-B731-099497708D94}" type="pres">
      <dgm:prSet presAssocID="{D80E9982-4095-47E3-AE0F-F5C9936473F2}" presName="sibTrans" presStyleCnt="0"/>
      <dgm:spPr/>
    </dgm:pt>
    <dgm:pt modelId="{C12FF6E1-2021-489A-A650-963277E1ECA1}" type="pres">
      <dgm:prSet presAssocID="{EC5E17EE-A839-4DFD-BFE2-A03C9BAE3C18}" presName="compNode" presStyleCnt="0"/>
      <dgm:spPr/>
    </dgm:pt>
    <dgm:pt modelId="{16BF7F3F-AC2B-4847-9E2F-401FE3E27045}" type="pres">
      <dgm:prSet presAssocID="{EC5E17EE-A839-4DFD-BFE2-A03C9BAE3C18}" presName="bgRect" presStyleLbl="bgShp" presStyleIdx="2" presStyleCnt="3" custLinFactNeighborY="-5304"/>
      <dgm:spPr/>
    </dgm:pt>
    <dgm:pt modelId="{D61FF062-35FB-42B3-9BD1-3B7D4011BBA4}" type="pres">
      <dgm:prSet presAssocID="{EC5E17EE-A839-4DFD-BFE2-A03C9BAE3C18}"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rocessor"/>
        </a:ext>
      </dgm:extLst>
    </dgm:pt>
    <dgm:pt modelId="{0E507BC3-B5BD-4870-BF9B-53E4094F7905}" type="pres">
      <dgm:prSet presAssocID="{EC5E17EE-A839-4DFD-BFE2-A03C9BAE3C18}" presName="spaceRect" presStyleCnt="0"/>
      <dgm:spPr/>
    </dgm:pt>
    <dgm:pt modelId="{AE48C011-F293-4D46-ACA6-34B9BDBEAD53}" type="pres">
      <dgm:prSet presAssocID="{EC5E17EE-A839-4DFD-BFE2-A03C9BAE3C18}" presName="parTx" presStyleLbl="revTx" presStyleIdx="2" presStyleCnt="3">
        <dgm:presLayoutVars>
          <dgm:chMax val="0"/>
          <dgm:chPref val="0"/>
        </dgm:presLayoutVars>
      </dgm:prSet>
      <dgm:spPr/>
    </dgm:pt>
  </dgm:ptLst>
  <dgm:cxnLst>
    <dgm:cxn modelId="{CFC5122E-D521-41FB-A533-4FFBF6B5BAEE}" type="presOf" srcId="{0DDBA25D-D7A7-4B87-A22F-8CCAF876F7A2}" destId="{B1D83A4F-B37D-4547-A28F-9C7819D8FA23}" srcOrd="0" destOrd="0" presId="urn:microsoft.com/office/officeart/2018/2/layout/IconVerticalSolidList"/>
    <dgm:cxn modelId="{0C004241-6FDF-4B68-A50A-B458A92AC369}" srcId="{51040861-C0DE-4AD4-8BCA-0F59E5C13FB5}" destId="{499730B3-A47A-4B27-B3D7-3D85C0E3364B}" srcOrd="1" destOrd="0" parTransId="{D67D7DE2-40A7-4C70-9B1D-288B64951852}" sibTransId="{D80E9982-4095-47E3-AE0F-F5C9936473F2}"/>
    <dgm:cxn modelId="{E8132A44-A60D-4946-9F10-B12A18F0A6D6}" type="presOf" srcId="{EC5E17EE-A839-4DFD-BFE2-A03C9BAE3C18}" destId="{AE48C011-F293-4D46-ACA6-34B9BDBEAD53}" srcOrd="0" destOrd="0" presId="urn:microsoft.com/office/officeart/2018/2/layout/IconVerticalSolidList"/>
    <dgm:cxn modelId="{9F2CA04A-086A-43DF-B9E4-8AB3E52A2A33}" srcId="{51040861-C0DE-4AD4-8BCA-0F59E5C13FB5}" destId="{0DDBA25D-D7A7-4B87-A22F-8CCAF876F7A2}" srcOrd="0" destOrd="0" parTransId="{24879E95-EEB2-44BB-B8F8-A37D2D53C3E0}" sibTransId="{AD0E0A18-020A-4FE3-9C6B-9DDCA16BCCA4}"/>
    <dgm:cxn modelId="{DCBDC097-EAFA-4AA6-A500-3F9D2038E99C}" type="presOf" srcId="{51040861-C0DE-4AD4-8BCA-0F59E5C13FB5}" destId="{E441B3A1-6475-417D-A08F-9BC5E63DDC2F}" srcOrd="0" destOrd="0" presId="urn:microsoft.com/office/officeart/2018/2/layout/IconVerticalSolidList"/>
    <dgm:cxn modelId="{6604E4BF-18C0-4774-9404-44D44400D88F}" type="presOf" srcId="{499730B3-A47A-4B27-B3D7-3D85C0E3364B}" destId="{6294BAD2-5DB3-4BF5-A47A-74A4A683B901}" srcOrd="0" destOrd="0" presId="urn:microsoft.com/office/officeart/2018/2/layout/IconVerticalSolidList"/>
    <dgm:cxn modelId="{E89FC6E0-55FF-4450-B7F3-DA99DC7A6AFA}" srcId="{51040861-C0DE-4AD4-8BCA-0F59E5C13FB5}" destId="{EC5E17EE-A839-4DFD-BFE2-A03C9BAE3C18}" srcOrd="2" destOrd="0" parTransId="{CCD2C025-1BF1-4E5C-96CB-E55421146B8C}" sibTransId="{99040276-EE20-440E-BE6F-9F738ECBCA7E}"/>
    <dgm:cxn modelId="{D38F4FD7-41AB-4711-80E6-9B850E9C2255}" type="presParOf" srcId="{E441B3A1-6475-417D-A08F-9BC5E63DDC2F}" destId="{85FCCFD6-4376-4C42-A531-A2EDFCE31511}" srcOrd="0" destOrd="0" presId="urn:microsoft.com/office/officeart/2018/2/layout/IconVerticalSolidList"/>
    <dgm:cxn modelId="{F51B1A2D-F27F-4BB1-8EC2-BC9AF407731F}" type="presParOf" srcId="{85FCCFD6-4376-4C42-A531-A2EDFCE31511}" destId="{3C87DC25-B9A7-4087-B895-84CFD7EA4DEC}" srcOrd="0" destOrd="0" presId="urn:microsoft.com/office/officeart/2018/2/layout/IconVerticalSolidList"/>
    <dgm:cxn modelId="{5E05DDE8-76B8-42A3-A376-800505E7D1A9}" type="presParOf" srcId="{85FCCFD6-4376-4C42-A531-A2EDFCE31511}" destId="{22CB5DB5-6AFC-4A61-9CFF-148D7B937AE6}" srcOrd="1" destOrd="0" presId="urn:microsoft.com/office/officeart/2018/2/layout/IconVerticalSolidList"/>
    <dgm:cxn modelId="{2CD1DC8C-ABE9-49F8-9DA0-862717B5B871}" type="presParOf" srcId="{85FCCFD6-4376-4C42-A531-A2EDFCE31511}" destId="{52BAE788-1D63-4F0A-9C69-CDA1EA1C3DFF}" srcOrd="2" destOrd="0" presId="urn:microsoft.com/office/officeart/2018/2/layout/IconVerticalSolidList"/>
    <dgm:cxn modelId="{54B31165-6FB1-42A3-98CE-E10E467777BE}" type="presParOf" srcId="{85FCCFD6-4376-4C42-A531-A2EDFCE31511}" destId="{B1D83A4F-B37D-4547-A28F-9C7819D8FA23}" srcOrd="3" destOrd="0" presId="urn:microsoft.com/office/officeart/2018/2/layout/IconVerticalSolidList"/>
    <dgm:cxn modelId="{0EB0D479-0F6A-4431-99A8-6BD65C782BF1}" type="presParOf" srcId="{E441B3A1-6475-417D-A08F-9BC5E63DDC2F}" destId="{3FF72A16-8D6A-4E87-8D63-A6EEBDC49819}" srcOrd="1" destOrd="0" presId="urn:microsoft.com/office/officeart/2018/2/layout/IconVerticalSolidList"/>
    <dgm:cxn modelId="{11E5E591-2C83-4C60-998E-48064BCCFA90}" type="presParOf" srcId="{E441B3A1-6475-417D-A08F-9BC5E63DDC2F}" destId="{CADDD55C-EA0F-4809-AED2-E12905559008}" srcOrd="2" destOrd="0" presId="urn:microsoft.com/office/officeart/2018/2/layout/IconVerticalSolidList"/>
    <dgm:cxn modelId="{791D3F4B-751D-48C2-9752-E824DCBFF19E}" type="presParOf" srcId="{CADDD55C-EA0F-4809-AED2-E12905559008}" destId="{3D774FC1-DFB8-4027-9A78-7295B2DD2A98}" srcOrd="0" destOrd="0" presId="urn:microsoft.com/office/officeart/2018/2/layout/IconVerticalSolidList"/>
    <dgm:cxn modelId="{0DA01624-CFCA-4D75-89BB-821F6231C274}" type="presParOf" srcId="{CADDD55C-EA0F-4809-AED2-E12905559008}" destId="{00C8DDCE-C715-47AA-BEB1-2D7C56BD9412}" srcOrd="1" destOrd="0" presId="urn:microsoft.com/office/officeart/2018/2/layout/IconVerticalSolidList"/>
    <dgm:cxn modelId="{B64108C3-5C5C-4C32-8DB6-7ACDC9359157}" type="presParOf" srcId="{CADDD55C-EA0F-4809-AED2-E12905559008}" destId="{7EF41D43-3B5E-473B-BE93-0167EA4A8B83}" srcOrd="2" destOrd="0" presId="urn:microsoft.com/office/officeart/2018/2/layout/IconVerticalSolidList"/>
    <dgm:cxn modelId="{94E04B1C-9EA6-4140-AB05-63D503A526FB}" type="presParOf" srcId="{CADDD55C-EA0F-4809-AED2-E12905559008}" destId="{6294BAD2-5DB3-4BF5-A47A-74A4A683B901}" srcOrd="3" destOrd="0" presId="urn:microsoft.com/office/officeart/2018/2/layout/IconVerticalSolidList"/>
    <dgm:cxn modelId="{498FE1B2-8D51-42C4-8A86-46A04E16A7A0}" type="presParOf" srcId="{E441B3A1-6475-417D-A08F-9BC5E63DDC2F}" destId="{B6E6FFC7-0B65-43ED-B731-099497708D94}" srcOrd="3" destOrd="0" presId="urn:microsoft.com/office/officeart/2018/2/layout/IconVerticalSolidList"/>
    <dgm:cxn modelId="{3054AA2B-CCA0-40C5-B0B6-72353448634A}" type="presParOf" srcId="{E441B3A1-6475-417D-A08F-9BC5E63DDC2F}" destId="{C12FF6E1-2021-489A-A650-963277E1ECA1}" srcOrd="4" destOrd="0" presId="urn:microsoft.com/office/officeart/2018/2/layout/IconVerticalSolidList"/>
    <dgm:cxn modelId="{076BD8EC-094B-4AF9-917E-6257311BBC46}" type="presParOf" srcId="{C12FF6E1-2021-489A-A650-963277E1ECA1}" destId="{16BF7F3F-AC2B-4847-9E2F-401FE3E27045}" srcOrd="0" destOrd="0" presId="urn:microsoft.com/office/officeart/2018/2/layout/IconVerticalSolidList"/>
    <dgm:cxn modelId="{74FFE8FB-A52E-4E4E-9528-C7E3438907A4}" type="presParOf" srcId="{C12FF6E1-2021-489A-A650-963277E1ECA1}" destId="{D61FF062-35FB-42B3-9BD1-3B7D4011BBA4}" srcOrd="1" destOrd="0" presId="urn:microsoft.com/office/officeart/2018/2/layout/IconVerticalSolidList"/>
    <dgm:cxn modelId="{F5CE07AE-F92E-4905-9AFC-5DEFA1404464}" type="presParOf" srcId="{C12FF6E1-2021-489A-A650-963277E1ECA1}" destId="{0E507BC3-B5BD-4870-BF9B-53E4094F7905}" srcOrd="2" destOrd="0" presId="urn:microsoft.com/office/officeart/2018/2/layout/IconVerticalSolidList"/>
    <dgm:cxn modelId="{8D5E9010-6E51-4FC8-B4B2-157CB45F1B94}" type="presParOf" srcId="{C12FF6E1-2021-489A-A650-963277E1ECA1}" destId="{AE48C011-F293-4D46-ACA6-34B9BDBEAD53}"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C87DC25-B9A7-4087-B895-84CFD7EA4DEC}">
      <dsp:nvSpPr>
        <dsp:cNvPr id="0" name=""/>
        <dsp:cNvSpPr/>
      </dsp:nvSpPr>
      <dsp:spPr>
        <a:xfrm>
          <a:off x="0" y="0"/>
          <a:ext cx="10308020" cy="114902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2CB5DB5-6AFC-4A61-9CFF-148D7B937AE6}">
      <dsp:nvSpPr>
        <dsp:cNvPr id="0" name=""/>
        <dsp:cNvSpPr/>
      </dsp:nvSpPr>
      <dsp:spPr>
        <a:xfrm>
          <a:off x="347579" y="259021"/>
          <a:ext cx="631962" cy="63196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1D83A4F-B37D-4547-A28F-9C7819D8FA23}">
      <dsp:nvSpPr>
        <dsp:cNvPr id="0" name=""/>
        <dsp:cNvSpPr/>
      </dsp:nvSpPr>
      <dsp:spPr>
        <a:xfrm>
          <a:off x="1327121" y="491"/>
          <a:ext cx="8980898" cy="11490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605" tIns="121605" rIns="121605" bIns="121605" numCol="1" spcCol="1270" anchor="ctr" anchorCtr="0">
          <a:noAutofit/>
        </a:bodyPr>
        <a:lstStyle/>
        <a:p>
          <a:pPr marL="0" lvl="0" indent="0" algn="l" defTabSz="933450">
            <a:lnSpc>
              <a:spcPct val="90000"/>
            </a:lnSpc>
            <a:spcBef>
              <a:spcPct val="0"/>
            </a:spcBef>
            <a:spcAft>
              <a:spcPct val="35000"/>
            </a:spcAft>
            <a:buNone/>
          </a:pPr>
          <a:r>
            <a:rPr lang="en-US" sz="2100" b="0" kern="1200"/>
            <a:t>Blockchain technology is a digital ledger system that records, stores, and verifies data in a secure, distributed, and immutable way.</a:t>
          </a:r>
        </a:p>
      </dsp:txBody>
      <dsp:txXfrm>
        <a:off x="1327121" y="491"/>
        <a:ext cx="8980898" cy="1149022"/>
      </dsp:txXfrm>
    </dsp:sp>
    <dsp:sp modelId="{3D774FC1-DFB8-4027-9A78-7295B2DD2A98}">
      <dsp:nvSpPr>
        <dsp:cNvPr id="0" name=""/>
        <dsp:cNvSpPr/>
      </dsp:nvSpPr>
      <dsp:spPr>
        <a:xfrm>
          <a:off x="0" y="1406297"/>
          <a:ext cx="10308020" cy="114902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0C8DDCE-C715-47AA-BEB1-2D7C56BD9412}">
      <dsp:nvSpPr>
        <dsp:cNvPr id="0" name=""/>
        <dsp:cNvSpPr/>
      </dsp:nvSpPr>
      <dsp:spPr>
        <a:xfrm>
          <a:off x="347579" y="1695299"/>
          <a:ext cx="631962" cy="63196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294BAD2-5DB3-4BF5-A47A-74A4A683B901}">
      <dsp:nvSpPr>
        <dsp:cNvPr id="0" name=""/>
        <dsp:cNvSpPr/>
      </dsp:nvSpPr>
      <dsp:spPr>
        <a:xfrm>
          <a:off x="1327121" y="1436769"/>
          <a:ext cx="8980898" cy="11490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605" tIns="121605" rIns="121605" bIns="121605" numCol="1" spcCol="1270" anchor="ctr" anchorCtr="0">
          <a:noAutofit/>
        </a:bodyPr>
        <a:lstStyle/>
        <a:p>
          <a:pPr marL="0" lvl="0" indent="0" algn="l" defTabSz="933450">
            <a:lnSpc>
              <a:spcPct val="90000"/>
            </a:lnSpc>
            <a:spcBef>
              <a:spcPct val="0"/>
            </a:spcBef>
            <a:spcAft>
              <a:spcPct val="35000"/>
            </a:spcAft>
            <a:buNone/>
          </a:pPr>
          <a:r>
            <a:rPr lang="en-US" sz="2100" kern="1200"/>
            <a:t>It is a decentralized system that enables the transfer of digital assets without the need for a trusted third party.</a:t>
          </a:r>
        </a:p>
      </dsp:txBody>
      <dsp:txXfrm>
        <a:off x="1327121" y="1436769"/>
        <a:ext cx="8980898" cy="1149022"/>
      </dsp:txXfrm>
    </dsp:sp>
    <dsp:sp modelId="{16BF7F3F-AC2B-4847-9E2F-401FE3E27045}">
      <dsp:nvSpPr>
        <dsp:cNvPr id="0" name=""/>
        <dsp:cNvSpPr/>
      </dsp:nvSpPr>
      <dsp:spPr>
        <a:xfrm>
          <a:off x="0" y="2812103"/>
          <a:ext cx="10308020" cy="114902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61FF062-35FB-42B3-9BD1-3B7D4011BBA4}">
      <dsp:nvSpPr>
        <dsp:cNvPr id="0" name=""/>
        <dsp:cNvSpPr/>
      </dsp:nvSpPr>
      <dsp:spPr>
        <a:xfrm>
          <a:off x="347579" y="3131578"/>
          <a:ext cx="631962" cy="63196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E48C011-F293-4D46-ACA6-34B9BDBEAD53}">
      <dsp:nvSpPr>
        <dsp:cNvPr id="0" name=""/>
        <dsp:cNvSpPr/>
      </dsp:nvSpPr>
      <dsp:spPr>
        <a:xfrm>
          <a:off x="1327121" y="2873048"/>
          <a:ext cx="8980898" cy="11490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605" tIns="121605" rIns="121605" bIns="121605" numCol="1" spcCol="1270" anchor="ctr" anchorCtr="0">
          <a:noAutofit/>
        </a:bodyPr>
        <a:lstStyle/>
        <a:p>
          <a:pPr marL="0" lvl="0" indent="0" algn="l" defTabSz="933450">
            <a:lnSpc>
              <a:spcPct val="90000"/>
            </a:lnSpc>
            <a:spcBef>
              <a:spcPct val="0"/>
            </a:spcBef>
            <a:spcAft>
              <a:spcPct val="35000"/>
            </a:spcAft>
            <a:buNone/>
          </a:pPr>
          <a:r>
            <a:rPr lang="en-US" sz="2100" kern="1200" dirty="0"/>
            <a:t>Blockchain technology has the potential to revolutionize many industries and the way we conduct business. It can be used to securely store and transfer data, create smart contracts, and provide a secure platform for digital asset trading.</a:t>
          </a:r>
        </a:p>
      </dsp:txBody>
      <dsp:txXfrm>
        <a:off x="1327121" y="2873048"/>
        <a:ext cx="8980898" cy="1149022"/>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A6B2FBF-F28C-4A52-8F61-56527D594153}" type="datetimeFigureOut">
              <a:rPr lang="en-IN" smtClean="0"/>
              <a:t>09-02-2025</a:t>
            </a:fld>
            <a:endParaRPr lang="en-IN"/>
          </a:p>
        </p:txBody>
      </p:sp>
      <p:sp>
        <p:nvSpPr>
          <p:cNvPr id="5" name="Footer Placeholder 4"/>
          <p:cNvSpPr>
            <a:spLocks noGrp="1"/>
          </p:cNvSpPr>
          <p:nvPr>
            <p:ph type="ftr" sz="quarter" idx="11"/>
          </p:nvPr>
        </p:nvSpPr>
        <p:spPr>
          <a:xfrm>
            <a:off x="2416500" y="329307"/>
            <a:ext cx="4973915" cy="309201"/>
          </a:xfrm>
        </p:spPr>
        <p:txBody>
          <a:bodyPr/>
          <a:lstStyle/>
          <a:p>
            <a:endParaRPr lang="en-IN"/>
          </a:p>
        </p:txBody>
      </p:sp>
      <p:sp>
        <p:nvSpPr>
          <p:cNvPr id="6" name="Slide Number Placeholder 5"/>
          <p:cNvSpPr>
            <a:spLocks noGrp="1"/>
          </p:cNvSpPr>
          <p:nvPr>
            <p:ph type="sldNum" sz="quarter" idx="12"/>
          </p:nvPr>
        </p:nvSpPr>
        <p:spPr>
          <a:xfrm>
            <a:off x="1437664" y="798973"/>
            <a:ext cx="811019" cy="503578"/>
          </a:xfrm>
        </p:spPr>
        <p:txBody>
          <a:bodyPr/>
          <a:lstStyle/>
          <a:p>
            <a:fld id="{FAB90C9D-EEF5-440A-9ED2-4ED9CD834960}" type="slidenum">
              <a:rPr lang="en-IN" smtClean="0"/>
              <a:t>‹#›</a:t>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2814990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A6B2FBF-F28C-4A52-8F61-56527D594153}" type="datetimeFigureOut">
              <a:rPr lang="en-IN" smtClean="0"/>
              <a:t>09-02-2025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AB90C9D-EEF5-440A-9ED2-4ED9CD834960}" type="slidenum">
              <a:rPr lang="en-IN" smtClean="0"/>
              <a:t>‹#›</a:t>
            </a:fld>
            <a:endParaRPr lang="en-IN"/>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2881782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A6B2FBF-F28C-4A52-8F61-56527D594153}" type="datetimeFigureOut">
              <a:rPr lang="en-IN" smtClean="0"/>
              <a:t>09-02-2025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AB90C9D-EEF5-440A-9ED2-4ED9CD834960}" type="slidenum">
              <a:rPr lang="en-IN" smtClean="0"/>
              <a:t>‹#›</a:t>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8239372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A6B2FBF-F28C-4A52-8F61-56527D594153}" type="datetimeFigureOut">
              <a:rPr lang="en-IN" smtClean="0"/>
              <a:t>09-02-2025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AB90C9D-EEF5-440A-9ED2-4ED9CD834960}" type="slidenum">
              <a:rPr lang="en-IN" smtClean="0"/>
              <a:t>‹#›</a:t>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6838135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A6B2FBF-F28C-4A52-8F61-56527D594153}" type="datetimeFigureOut">
              <a:rPr lang="en-IN" smtClean="0"/>
              <a:t>09-02-2025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AB90C9D-EEF5-440A-9ED2-4ED9CD834960}" type="slidenum">
              <a:rPr lang="en-IN" smtClean="0"/>
              <a:t>‹#›</a:t>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0557730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A6B2FBF-F28C-4A52-8F61-56527D594153}" type="datetimeFigureOut">
              <a:rPr lang="en-IN" smtClean="0"/>
              <a:t>09-02-2025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AB90C9D-EEF5-440A-9ED2-4ED9CD834960}" type="slidenum">
              <a:rPr lang="en-IN" smtClean="0"/>
              <a:t>‹#›</a:t>
            </a:fld>
            <a:endParaRPr lang="en-I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1610855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A6B2FBF-F28C-4A52-8F61-56527D594153}" type="datetimeFigureOut">
              <a:rPr lang="en-IN" smtClean="0"/>
              <a:t>09-02-2025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AB90C9D-EEF5-440A-9ED2-4ED9CD834960}" type="slidenum">
              <a:rPr lang="en-IN" smtClean="0"/>
              <a:t>‹#›</a:t>
            </a:fld>
            <a:endParaRPr lang="en-IN"/>
          </a:p>
        </p:txBody>
      </p:sp>
    </p:spTree>
    <p:extLst>
      <p:ext uri="{BB962C8B-B14F-4D97-AF65-F5344CB8AC3E}">
        <p14:creationId xmlns:p14="http://schemas.microsoft.com/office/powerpoint/2010/main" val="1620170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A6B2FBF-F28C-4A52-8F61-56527D594153}" type="datetimeFigureOut">
              <a:rPr lang="en-IN" smtClean="0"/>
              <a:t>09-02-2025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AB90C9D-EEF5-440A-9ED2-4ED9CD834960}" type="slidenum">
              <a:rPr lang="en-IN" smtClean="0"/>
              <a:t>‹#›</a:t>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6076560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6A6B2FBF-F28C-4A52-8F61-56527D594153}" type="datetimeFigureOut">
              <a:rPr lang="en-IN" smtClean="0"/>
              <a:t>09-02-2025</a:t>
            </a:fld>
            <a:endParaRPr lang="en-IN"/>
          </a:p>
        </p:txBody>
      </p:sp>
      <p:sp>
        <p:nvSpPr>
          <p:cNvPr id="6" name="Footer Placeholder 5"/>
          <p:cNvSpPr>
            <a:spLocks noGrp="1"/>
          </p:cNvSpPr>
          <p:nvPr>
            <p:ph type="ftr" sz="quarter" idx="11"/>
          </p:nvPr>
        </p:nvSpPr>
        <p:spPr>
          <a:xfrm>
            <a:off x="1447382" y="318640"/>
            <a:ext cx="5541004" cy="320931"/>
          </a:xfrm>
        </p:spPr>
        <p:txBody>
          <a:bodyPr/>
          <a:lstStyle/>
          <a:p>
            <a:endParaRPr lang="en-IN"/>
          </a:p>
        </p:txBody>
      </p:sp>
      <p:sp>
        <p:nvSpPr>
          <p:cNvPr id="7" name="Slide Number Placeholder 6"/>
          <p:cNvSpPr>
            <a:spLocks noGrp="1"/>
          </p:cNvSpPr>
          <p:nvPr>
            <p:ph type="sldNum" sz="quarter" idx="12"/>
          </p:nvPr>
        </p:nvSpPr>
        <p:spPr/>
        <p:txBody>
          <a:bodyPr/>
          <a:lstStyle/>
          <a:p>
            <a:fld id="{FAB90C9D-EEF5-440A-9ED2-4ED9CD834960}" type="slidenum">
              <a:rPr lang="en-IN" smtClean="0"/>
              <a:t>‹#›</a:t>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4033978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A6B2FBF-F28C-4A52-8F61-56527D594153}" type="datetimeFigureOut">
              <a:rPr lang="en-IN" smtClean="0"/>
              <a:t>09-02-2025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AB90C9D-EEF5-440A-9ED2-4ED9CD834960}" type="slidenum">
              <a:rPr lang="en-IN" smtClean="0"/>
              <a:t>‹#›</a:t>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4143611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A6B2FBF-F28C-4A52-8F61-56527D594153}" type="datetimeFigureOut">
              <a:rPr lang="en-IN" smtClean="0"/>
              <a:t>09-02-2025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AB90C9D-EEF5-440A-9ED2-4ED9CD834960}" type="slidenum">
              <a:rPr lang="en-IN" smtClean="0"/>
              <a:t>‹#›</a:t>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5692835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6A6B2FBF-F28C-4A52-8F61-56527D594153}" type="datetimeFigureOut">
              <a:rPr lang="en-IN" smtClean="0"/>
              <a:t>09-02-2025</a:t>
            </a:fld>
            <a:endParaRPr lang="en-IN"/>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FAB90C9D-EEF5-440A-9ED2-4ED9CD834960}" type="slidenum">
              <a:rPr lang="en-IN" smtClean="0"/>
              <a:t>‹#›</a:t>
            </a:fld>
            <a:endParaRPr lang="en-IN"/>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277931"/>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9.pn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13.jpeg"/><Relationship Id="rId7" Type="http://schemas.openxmlformats.org/officeDocument/2006/relationships/image" Target="../media/image17.jpeg"/><Relationship Id="rId2" Type="http://schemas.openxmlformats.org/officeDocument/2006/relationships/image" Target="../media/image12.jpe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20.jpeg"/></Relationships>
</file>

<file path=ppt/slides/_rels/slide6.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22.jpeg"/><Relationship Id="rId7" Type="http://schemas.openxmlformats.org/officeDocument/2006/relationships/image" Target="../media/image26.jpeg"/><Relationship Id="rId2" Type="http://schemas.openxmlformats.org/officeDocument/2006/relationships/image" Target="../media/image21.jpeg"/><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emf"/><Relationship Id="rId4" Type="http://schemas.openxmlformats.org/officeDocument/2006/relationships/image" Target="../media/image23.png"/></Relationships>
</file>

<file path=ppt/slides/_rels/slide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jp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31.jpg"/></Relationships>
</file>

<file path=ppt/slides/_rels/slide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34.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5.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6.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10BE7D7E-0842-4F38-9557-0D617EE85D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6B32CE0E-5DF1-4910-9170-60FCDE09DA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tle 1">
            <a:extLst>
              <a:ext uri="{FF2B5EF4-FFF2-40B4-BE49-F238E27FC236}">
                <a16:creationId xmlns:a16="http://schemas.microsoft.com/office/drawing/2014/main" id="{4010AF38-26DF-48B3-952C-4A9091D6863C}"/>
              </a:ext>
            </a:extLst>
          </p:cNvPr>
          <p:cNvSpPr>
            <a:spLocks noGrp="1"/>
          </p:cNvSpPr>
          <p:nvPr>
            <p:ph type="ctrTitle"/>
          </p:nvPr>
        </p:nvSpPr>
        <p:spPr>
          <a:xfrm>
            <a:off x="5688792" y="984639"/>
            <a:ext cx="5313208" cy="2376915"/>
          </a:xfrm>
        </p:spPr>
        <p:txBody>
          <a:bodyPr>
            <a:noAutofit/>
          </a:bodyPr>
          <a:lstStyle/>
          <a:p>
            <a:pPr>
              <a:lnSpc>
                <a:spcPct val="100000"/>
              </a:lnSpc>
            </a:pPr>
            <a:r>
              <a:rPr lang="en-US" sz="4400" dirty="0" err="1">
                <a:effectLst>
                  <a:outerShdw blurRad="38100" dist="38100" dir="2700000" algn="tl">
                    <a:srgbClr val="000000">
                      <a:alpha val="43137"/>
                    </a:srgbClr>
                  </a:outerShdw>
                </a:effectLst>
                <a:latin typeface="Bookman Old Style" panose="02050604050505020204" pitchFamily="18" charset="0"/>
              </a:rPr>
              <a:t>Dr.Mahalingam</a:t>
            </a:r>
            <a:r>
              <a:rPr lang="en-US" sz="4400" dirty="0">
                <a:effectLst>
                  <a:outerShdw blurRad="38100" dist="38100" dir="2700000" algn="tl">
                    <a:srgbClr val="000000">
                      <a:alpha val="43137"/>
                    </a:srgbClr>
                  </a:outerShdw>
                </a:effectLst>
                <a:latin typeface="Bookman Old Style" panose="02050604050505020204" pitchFamily="18" charset="0"/>
              </a:rPr>
              <a:t> College of Engineering &amp; Technology</a:t>
            </a:r>
          </a:p>
        </p:txBody>
      </p:sp>
      <p:sp>
        <p:nvSpPr>
          <p:cNvPr id="3" name="Subtitle 2">
            <a:extLst>
              <a:ext uri="{FF2B5EF4-FFF2-40B4-BE49-F238E27FC236}">
                <a16:creationId xmlns:a16="http://schemas.microsoft.com/office/drawing/2014/main" id="{37FC2D8F-56D2-4ADF-B439-0E09E7C37894}"/>
              </a:ext>
            </a:extLst>
          </p:cNvPr>
          <p:cNvSpPr>
            <a:spLocks noGrp="1"/>
          </p:cNvSpPr>
          <p:nvPr>
            <p:ph type="subTitle" idx="1"/>
          </p:nvPr>
        </p:nvSpPr>
        <p:spPr>
          <a:xfrm>
            <a:off x="5586631" y="3590047"/>
            <a:ext cx="6106966" cy="1612688"/>
          </a:xfrm>
        </p:spPr>
        <p:txBody>
          <a:bodyPr>
            <a:normAutofit/>
          </a:bodyPr>
          <a:lstStyle/>
          <a:p>
            <a:r>
              <a:rPr lang="en-US" sz="2800" b="1" dirty="0">
                <a:solidFill>
                  <a:srgbClr val="C00000"/>
                </a:solidFill>
                <a:effectLst>
                  <a:outerShdw blurRad="38100" dist="38100" dir="2700000" algn="tl">
                    <a:srgbClr val="000000">
                      <a:alpha val="43137"/>
                    </a:srgbClr>
                  </a:outerShdw>
                </a:effectLst>
                <a:latin typeface="Book Antiqua" panose="02040602050305030304" pitchFamily="18" charset="0"/>
              </a:rPr>
              <a:t>Emerging technology :  Blockchain</a:t>
            </a:r>
          </a:p>
        </p:txBody>
      </p:sp>
      <p:grpSp>
        <p:nvGrpSpPr>
          <p:cNvPr id="17" name="Group 16">
            <a:extLst>
              <a:ext uri="{FF2B5EF4-FFF2-40B4-BE49-F238E27FC236}">
                <a16:creationId xmlns:a16="http://schemas.microsoft.com/office/drawing/2014/main" id="{2D48BE64-6C02-4E42-BDA9-6B8B59C4C21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32238" y="482171"/>
            <a:ext cx="4641751" cy="5149101"/>
            <a:chOff x="632238" y="482171"/>
            <a:chExt cx="4641751" cy="5149101"/>
          </a:xfrm>
        </p:grpSpPr>
        <p:sp>
          <p:nvSpPr>
            <p:cNvPr id="18" name="Rectangle 17">
              <a:extLst>
                <a:ext uri="{FF2B5EF4-FFF2-40B4-BE49-F238E27FC236}">
                  <a16:creationId xmlns:a16="http://schemas.microsoft.com/office/drawing/2014/main" id="{3DD431A6-9E1C-4B11-BDBB-3657C592F5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238" y="482171"/>
              <a:ext cx="4641751"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4B812A6D-4B8E-47C7-8209-617FCA0F91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45297" y="812507"/>
              <a:ext cx="4001652"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21" name="Rectangle 20">
            <a:extLst>
              <a:ext uri="{FF2B5EF4-FFF2-40B4-BE49-F238E27FC236}">
                <a16:creationId xmlns:a16="http://schemas.microsoft.com/office/drawing/2014/main" id="{E262252E-3BC8-4D09-B5AC-AEC6296B96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8720" y="977099"/>
            <a:ext cx="3661944" cy="4136205"/>
          </a:xfrm>
          <a:prstGeom prst="rect">
            <a:avLst/>
          </a:prstGeom>
          <a:solidFill>
            <a:schemeClr val="bg1"/>
          </a:solidFill>
          <a:ln w="63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 name="Straight Connector 22">
            <a:extLst>
              <a:ext uri="{FF2B5EF4-FFF2-40B4-BE49-F238E27FC236}">
                <a16:creationId xmlns:a16="http://schemas.microsoft.com/office/drawing/2014/main" id="{DB5CBE9D-E580-4E12-A631-39FF36782F1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770073" y="3526496"/>
            <a:ext cx="4959505" cy="0"/>
          </a:xfrm>
          <a:prstGeom prst="line">
            <a:avLst/>
          </a:prstGeom>
          <a:ln w="31750"/>
        </p:spPr>
        <p:style>
          <a:lnRef idx="3">
            <a:schemeClr val="accent1"/>
          </a:lnRef>
          <a:fillRef idx="0">
            <a:schemeClr val="accent1"/>
          </a:fillRef>
          <a:effectRef idx="2">
            <a:schemeClr val="accent1"/>
          </a:effectRef>
          <a:fontRef idx="minor">
            <a:schemeClr val="tx1"/>
          </a:fontRef>
        </p:style>
      </p:cxnSp>
      <p:pic>
        <p:nvPicPr>
          <p:cNvPr id="25" name="Picture 24">
            <a:extLst>
              <a:ext uri="{FF2B5EF4-FFF2-40B4-BE49-F238E27FC236}">
                <a16:creationId xmlns:a16="http://schemas.microsoft.com/office/drawing/2014/main" id="{1CD736FD-103D-4A07-94DB-2E05C99C054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10" name="Straight Connector 26">
            <a:extLst>
              <a:ext uri="{FF2B5EF4-FFF2-40B4-BE49-F238E27FC236}">
                <a16:creationId xmlns:a16="http://schemas.microsoft.com/office/drawing/2014/main" id="{774EB30B-2659-4978-B415-0296628B2C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546162C4-335E-339F-EC76-20400196B37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3305" y="1632034"/>
            <a:ext cx="3879616" cy="2995653"/>
          </a:xfrm>
          <a:prstGeom prst="rect">
            <a:avLst/>
          </a:prstGeom>
        </p:spPr>
      </p:pic>
      <p:sp>
        <p:nvSpPr>
          <p:cNvPr id="6" name="TextBox 5">
            <a:extLst>
              <a:ext uri="{FF2B5EF4-FFF2-40B4-BE49-F238E27FC236}">
                <a16:creationId xmlns:a16="http://schemas.microsoft.com/office/drawing/2014/main" id="{891759F6-7681-EBB8-90E0-E90E0520F6A6}"/>
              </a:ext>
            </a:extLst>
          </p:cNvPr>
          <p:cNvSpPr txBox="1"/>
          <p:nvPr/>
        </p:nvSpPr>
        <p:spPr>
          <a:xfrm>
            <a:off x="6092687" y="4741066"/>
            <a:ext cx="6101080" cy="1200329"/>
          </a:xfrm>
          <a:prstGeom prst="rect">
            <a:avLst/>
          </a:prstGeom>
          <a:noFill/>
        </p:spPr>
        <p:txBody>
          <a:bodyPr wrap="square">
            <a:spAutoFit/>
          </a:bodyPr>
          <a:lstStyle/>
          <a:p>
            <a:r>
              <a:rPr lang="en-US" sz="3600" b="1" dirty="0">
                <a:solidFill>
                  <a:schemeClr val="accent2">
                    <a:lumMod val="75000"/>
                  </a:schemeClr>
                </a:solidFill>
                <a:effectLst>
                  <a:outerShdw blurRad="38100" dist="38100" dir="2700000" algn="tl">
                    <a:srgbClr val="000000">
                      <a:alpha val="43137"/>
                    </a:srgbClr>
                  </a:outerShdw>
                </a:effectLst>
                <a:latin typeface="Lucida Calligraphy" panose="03010101010101010101" pitchFamily="66" charset="0"/>
              </a:rPr>
              <a:t>~</a:t>
            </a:r>
            <a:r>
              <a:rPr lang="en-US" sz="3600" b="1" dirty="0" err="1">
                <a:solidFill>
                  <a:schemeClr val="accent2">
                    <a:lumMod val="75000"/>
                  </a:schemeClr>
                </a:solidFill>
                <a:effectLst>
                  <a:outerShdw blurRad="38100" dist="38100" dir="2700000" algn="tl">
                    <a:srgbClr val="000000">
                      <a:alpha val="43137"/>
                    </a:srgbClr>
                  </a:outerShdw>
                </a:effectLst>
                <a:latin typeface="Lucida Calligraphy" panose="03010101010101010101" pitchFamily="66" charset="0"/>
              </a:rPr>
              <a:t>Sujitha</a:t>
            </a:r>
            <a:r>
              <a:rPr lang="en-US" sz="3600" b="1" dirty="0">
                <a:solidFill>
                  <a:schemeClr val="accent2">
                    <a:lumMod val="75000"/>
                  </a:schemeClr>
                </a:solidFill>
                <a:effectLst>
                  <a:outerShdw blurRad="38100" dist="38100" dir="2700000" algn="tl">
                    <a:srgbClr val="000000">
                      <a:alpha val="43137"/>
                    </a:srgbClr>
                  </a:outerShdw>
                </a:effectLst>
                <a:latin typeface="Lucida Calligraphy" panose="03010101010101010101" pitchFamily="66" charset="0"/>
              </a:rPr>
              <a:t> V</a:t>
            </a:r>
          </a:p>
          <a:p>
            <a:r>
              <a:rPr lang="en-US" sz="3600" b="1" dirty="0">
                <a:solidFill>
                  <a:schemeClr val="accent2">
                    <a:lumMod val="75000"/>
                  </a:schemeClr>
                </a:solidFill>
                <a:effectLst>
                  <a:outerShdw blurRad="38100" dist="38100" dir="2700000" algn="tl">
                    <a:srgbClr val="000000">
                      <a:alpha val="43137"/>
                    </a:srgbClr>
                  </a:outerShdw>
                </a:effectLst>
                <a:latin typeface="Lucida Calligraphy" panose="03010101010101010101" pitchFamily="66" charset="0"/>
              </a:rPr>
              <a:t>~Karthick Pranesh GSD</a:t>
            </a:r>
          </a:p>
        </p:txBody>
      </p:sp>
    </p:spTree>
    <p:extLst>
      <p:ext uri="{BB962C8B-B14F-4D97-AF65-F5344CB8AC3E}">
        <p14:creationId xmlns:p14="http://schemas.microsoft.com/office/powerpoint/2010/main" val="3912747309"/>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3" name="Title 1">
            <a:extLst>
              <a:ext uri="{FF2B5EF4-FFF2-40B4-BE49-F238E27FC236}">
                <a16:creationId xmlns:a16="http://schemas.microsoft.com/office/drawing/2014/main" id="{8634BE21-52AE-4F0D-7770-C4450040DC29}"/>
              </a:ext>
            </a:extLst>
          </p:cNvPr>
          <p:cNvSpPr>
            <a:spLocks noGrp="1"/>
          </p:cNvSpPr>
          <p:nvPr/>
        </p:nvSpPr>
        <p:spPr>
          <a:xfrm>
            <a:off x="1346583" y="327243"/>
            <a:ext cx="10058400" cy="1450757"/>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a:lstStyle>
          <a:p>
            <a:pPr>
              <a:spcAft>
                <a:spcPts val="600"/>
              </a:spcAft>
            </a:pPr>
            <a:r>
              <a:rPr lang="en-US" sz="4800" dirty="0">
                <a:solidFill>
                  <a:schemeClr val="tx1"/>
                </a:solidFill>
                <a:effectLst>
                  <a:outerShdw blurRad="38100" dist="38100" dir="2700000" algn="tl">
                    <a:srgbClr val="000000">
                      <a:alpha val="43137"/>
                    </a:srgbClr>
                  </a:outerShdw>
                </a:effectLst>
                <a:latin typeface="Rockwell" panose="02060603020205020403" pitchFamily="18" charset="0"/>
              </a:rPr>
              <a:t>What is Blockchain Technology?</a:t>
            </a:r>
          </a:p>
        </p:txBody>
      </p:sp>
      <p:graphicFrame>
        <p:nvGraphicFramePr>
          <p:cNvPr id="60" name="Content Placeholder 2">
            <a:extLst>
              <a:ext uri="{FF2B5EF4-FFF2-40B4-BE49-F238E27FC236}">
                <a16:creationId xmlns:a16="http://schemas.microsoft.com/office/drawing/2014/main" id="{1877B1D3-10D1-FE12-4A23-31D33358BBBF}"/>
              </a:ext>
            </a:extLst>
          </p:cNvPr>
          <p:cNvGraphicFramePr>
            <a:graphicFrameLocks noGrp="1"/>
          </p:cNvGraphicFramePr>
          <p:nvPr>
            <p:ph idx="1"/>
            <p:extLst>
              <p:ext uri="{D42A27DB-BD31-4B8C-83A1-F6EECF244321}">
                <p14:modId xmlns:p14="http://schemas.microsoft.com/office/powerpoint/2010/main" val="2656699464"/>
              </p:ext>
            </p:extLst>
          </p:nvPr>
        </p:nvGraphicFramePr>
        <p:xfrm>
          <a:off x="1096963" y="2098515"/>
          <a:ext cx="10308020" cy="40225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Picture 4">
            <a:extLst>
              <a:ext uri="{FF2B5EF4-FFF2-40B4-BE49-F238E27FC236}">
                <a16:creationId xmlns:a16="http://schemas.microsoft.com/office/drawing/2014/main" id="{EE019BFE-E79F-0C72-8990-1B29B1B7E1E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796932" y="0"/>
            <a:ext cx="1782000" cy="1188000"/>
          </a:xfrm>
          <a:prstGeom prst="rect">
            <a:avLst/>
          </a:prstGeom>
        </p:spPr>
      </p:pic>
    </p:spTree>
    <p:extLst>
      <p:ext uri="{BB962C8B-B14F-4D97-AF65-F5344CB8AC3E}">
        <p14:creationId xmlns:p14="http://schemas.microsoft.com/office/powerpoint/2010/main" val="2849289774"/>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DC0D18-1C19-DECE-D00F-EB9A586F3B14}"/>
              </a:ext>
            </a:extLst>
          </p:cNvPr>
          <p:cNvSpPr>
            <a:spLocks noGrp="1"/>
          </p:cNvSpPr>
          <p:nvPr>
            <p:ph type="title"/>
          </p:nvPr>
        </p:nvSpPr>
        <p:spPr>
          <a:xfrm>
            <a:off x="1259841" y="1142540"/>
            <a:ext cx="10496054" cy="1049235"/>
          </a:xfrm>
        </p:spPr>
        <p:txBody>
          <a:bodyPr>
            <a:noAutofit/>
          </a:bodyPr>
          <a:lstStyle/>
          <a:p>
            <a:r>
              <a:rPr lang="en-IN" sz="4000" dirty="0">
                <a:solidFill>
                  <a:schemeClr val="tx1"/>
                </a:solidFill>
                <a:effectLst>
                  <a:outerShdw blurRad="38100" dist="38100" dir="2700000" algn="tl">
                    <a:srgbClr val="000000">
                      <a:alpha val="43137"/>
                    </a:srgbClr>
                  </a:outerShdw>
                </a:effectLst>
                <a:latin typeface="Rockwell" panose="02060603020205020403" pitchFamily="18" charset="0"/>
              </a:rPr>
              <a:t>History of Blockchain Technology</a:t>
            </a:r>
          </a:p>
        </p:txBody>
      </p:sp>
      <p:sp>
        <p:nvSpPr>
          <p:cNvPr id="45" name="Content Placeholder 2">
            <a:extLst>
              <a:ext uri="{FF2B5EF4-FFF2-40B4-BE49-F238E27FC236}">
                <a16:creationId xmlns:a16="http://schemas.microsoft.com/office/drawing/2014/main" id="{21CCC4C0-0DC4-3706-FAA3-E5BEF7923D8A}"/>
              </a:ext>
            </a:extLst>
          </p:cNvPr>
          <p:cNvSpPr>
            <a:spLocks noGrp="1"/>
          </p:cNvSpPr>
          <p:nvPr>
            <p:ph idx="1"/>
          </p:nvPr>
        </p:nvSpPr>
        <p:spPr>
          <a:xfrm>
            <a:off x="1097281" y="2108201"/>
            <a:ext cx="3872327" cy="3760891"/>
          </a:xfrm>
        </p:spPr>
        <p:txBody>
          <a:bodyPr vert="horz" lIns="0" tIns="45720" rIns="0" bIns="45720" rtlCol="0" anchor="t">
            <a:normAutofit/>
          </a:bodyPr>
          <a:lstStyle/>
          <a:p>
            <a:r>
              <a:rPr lang="en-US" dirty="0">
                <a:latin typeface="Rockwell"/>
              </a:rPr>
              <a:t>The concept of blockchain technology was </a:t>
            </a:r>
            <a:r>
              <a:rPr lang="en-US" dirty="0">
                <a:solidFill>
                  <a:srgbClr val="FF0000"/>
                </a:solidFill>
                <a:latin typeface="Rockwell"/>
              </a:rPr>
              <a:t>first</a:t>
            </a:r>
            <a:r>
              <a:rPr lang="en-US" dirty="0">
                <a:latin typeface="Rockwell"/>
              </a:rPr>
              <a:t> introduced in </a:t>
            </a:r>
            <a:r>
              <a:rPr lang="en-US" dirty="0">
                <a:solidFill>
                  <a:srgbClr val="FF0000"/>
                </a:solidFill>
                <a:latin typeface="Rockwell"/>
              </a:rPr>
              <a:t>1991</a:t>
            </a:r>
            <a:r>
              <a:rPr lang="en-US" dirty="0">
                <a:latin typeface="Rockwell"/>
              </a:rPr>
              <a:t> by </a:t>
            </a:r>
            <a:r>
              <a:rPr lang="en-US" dirty="0">
                <a:solidFill>
                  <a:srgbClr val="FF0000"/>
                </a:solidFill>
                <a:latin typeface="Rockwell"/>
              </a:rPr>
              <a:t>Stuart Haber </a:t>
            </a:r>
            <a:r>
              <a:rPr lang="en-US" dirty="0">
                <a:latin typeface="Rockwell"/>
              </a:rPr>
              <a:t>and </a:t>
            </a:r>
            <a:r>
              <a:rPr lang="en-US" dirty="0">
                <a:solidFill>
                  <a:srgbClr val="FF0000"/>
                </a:solidFill>
                <a:latin typeface="Rockwell"/>
                <a:ea typeface="+mn-lt"/>
                <a:cs typeface="+mn-lt"/>
              </a:rPr>
              <a:t>W. Scott </a:t>
            </a:r>
            <a:r>
              <a:rPr lang="en-US" dirty="0" err="1">
                <a:solidFill>
                  <a:srgbClr val="FF0000"/>
                </a:solidFill>
                <a:latin typeface="Rockwell"/>
                <a:ea typeface="+mn-lt"/>
                <a:cs typeface="+mn-lt"/>
              </a:rPr>
              <a:t>Stornetta</a:t>
            </a:r>
            <a:r>
              <a:rPr lang="en-US" dirty="0">
                <a:solidFill>
                  <a:srgbClr val="FF0000"/>
                </a:solidFill>
                <a:latin typeface="Rockwell"/>
                <a:ea typeface="+mn-lt"/>
                <a:cs typeface="+mn-lt"/>
              </a:rPr>
              <a:t>.</a:t>
            </a:r>
            <a:endParaRPr lang="en-US" dirty="0">
              <a:solidFill>
                <a:srgbClr val="FF0000"/>
              </a:solidFill>
              <a:latin typeface="Rockwell"/>
            </a:endParaRPr>
          </a:p>
          <a:p>
            <a:r>
              <a:rPr lang="en-US" dirty="0">
                <a:latin typeface="Rockwell"/>
              </a:rPr>
              <a:t>It was further developed in </a:t>
            </a:r>
            <a:r>
              <a:rPr lang="en-US" dirty="0">
                <a:solidFill>
                  <a:srgbClr val="FF0000"/>
                </a:solidFill>
                <a:latin typeface="Rockwell"/>
              </a:rPr>
              <a:t>2008</a:t>
            </a:r>
            <a:r>
              <a:rPr lang="en-US" dirty="0">
                <a:latin typeface="Rockwell"/>
              </a:rPr>
              <a:t> by </a:t>
            </a:r>
            <a:r>
              <a:rPr lang="en-US" dirty="0">
                <a:solidFill>
                  <a:srgbClr val="FF0000"/>
                </a:solidFill>
                <a:latin typeface="Rockwell"/>
              </a:rPr>
              <a:t>Satoshi Nakamoto</a:t>
            </a:r>
            <a:r>
              <a:rPr lang="en-US" dirty="0">
                <a:latin typeface="Rockwell"/>
              </a:rPr>
              <a:t>, who created the first blockchain-based on </a:t>
            </a:r>
            <a:r>
              <a:rPr lang="en-US" dirty="0">
                <a:solidFill>
                  <a:srgbClr val="FF0000"/>
                </a:solidFill>
                <a:latin typeface="Rockwell"/>
              </a:rPr>
              <a:t>cryptocurrency, Bitcoin</a:t>
            </a:r>
            <a:r>
              <a:rPr lang="en-US" dirty="0">
                <a:latin typeface="Rockwell"/>
              </a:rPr>
              <a:t>.</a:t>
            </a:r>
          </a:p>
          <a:p>
            <a:endParaRPr lang="en-IN" dirty="0">
              <a:latin typeface="Rockwell"/>
            </a:endParaRPr>
          </a:p>
        </p:txBody>
      </p:sp>
      <p:pic>
        <p:nvPicPr>
          <p:cNvPr id="5" name="Picture 4">
            <a:extLst>
              <a:ext uri="{FF2B5EF4-FFF2-40B4-BE49-F238E27FC236}">
                <a16:creationId xmlns:a16="http://schemas.microsoft.com/office/drawing/2014/main" id="{70A7C444-3FDB-2886-ED81-AFA7FBE5780D}"/>
              </a:ext>
            </a:extLst>
          </p:cNvPr>
          <p:cNvPicPr>
            <a:picLocks noChangeAspect="1"/>
          </p:cNvPicPr>
          <p:nvPr/>
        </p:nvPicPr>
        <p:blipFill>
          <a:blip r:embed="rId2"/>
          <a:stretch>
            <a:fillRect/>
          </a:stretch>
        </p:blipFill>
        <p:spPr>
          <a:xfrm>
            <a:off x="5804088" y="2410026"/>
            <a:ext cx="2456292" cy="2133568"/>
          </a:xfrm>
          <a:prstGeom prst="rect">
            <a:avLst/>
          </a:prstGeom>
        </p:spPr>
      </p:pic>
      <p:pic>
        <p:nvPicPr>
          <p:cNvPr id="7" name="Picture 6">
            <a:extLst>
              <a:ext uri="{FF2B5EF4-FFF2-40B4-BE49-F238E27FC236}">
                <a16:creationId xmlns:a16="http://schemas.microsoft.com/office/drawing/2014/main" id="{186F4F19-DA27-FBF1-B73E-696DDF8A692E}"/>
              </a:ext>
            </a:extLst>
          </p:cNvPr>
          <p:cNvPicPr>
            <a:picLocks noChangeAspect="1"/>
          </p:cNvPicPr>
          <p:nvPr/>
        </p:nvPicPr>
        <p:blipFill>
          <a:blip r:embed="rId3"/>
          <a:stretch>
            <a:fillRect/>
          </a:stretch>
        </p:blipFill>
        <p:spPr>
          <a:xfrm>
            <a:off x="8869045" y="2362216"/>
            <a:ext cx="2124000" cy="2133568"/>
          </a:xfrm>
          <a:prstGeom prst="rect">
            <a:avLst/>
          </a:prstGeom>
        </p:spPr>
      </p:pic>
      <p:sp>
        <p:nvSpPr>
          <p:cNvPr id="17" name="TextBox 16">
            <a:extLst>
              <a:ext uri="{FF2B5EF4-FFF2-40B4-BE49-F238E27FC236}">
                <a16:creationId xmlns:a16="http://schemas.microsoft.com/office/drawing/2014/main" id="{3E73161E-E8C9-DB0A-0AA2-EE9DD6A91144}"/>
              </a:ext>
            </a:extLst>
          </p:cNvPr>
          <p:cNvSpPr txBox="1"/>
          <p:nvPr/>
        </p:nvSpPr>
        <p:spPr>
          <a:xfrm>
            <a:off x="3868787" y="4533894"/>
            <a:ext cx="6101080" cy="369332"/>
          </a:xfrm>
          <a:prstGeom prst="rect">
            <a:avLst/>
          </a:prstGeom>
          <a:noFill/>
        </p:spPr>
        <p:txBody>
          <a:bodyPr wrap="square">
            <a:spAutoFit/>
          </a:bodyPr>
          <a:lstStyle/>
          <a:p>
            <a:pPr algn="ctr"/>
            <a:r>
              <a:rPr lang="en-IN" b="1" dirty="0">
                <a:solidFill>
                  <a:srgbClr val="000000"/>
                </a:solidFill>
                <a:latin typeface="Calibri" panose="020F0502020204030204" pitchFamily="34" charset="0"/>
                <a:ea typeface="Calibri" panose="020F0502020204030204" pitchFamily="34" charset="0"/>
                <a:cs typeface="Calibri" panose="020F0502020204030204" pitchFamily="34" charset="0"/>
              </a:rPr>
              <a:t>Stuart Haber</a:t>
            </a:r>
          </a:p>
        </p:txBody>
      </p:sp>
      <p:sp>
        <p:nvSpPr>
          <p:cNvPr id="19" name="TextBox 18">
            <a:extLst>
              <a:ext uri="{FF2B5EF4-FFF2-40B4-BE49-F238E27FC236}">
                <a16:creationId xmlns:a16="http://schemas.microsoft.com/office/drawing/2014/main" id="{D3D554A8-AB88-606D-F888-08EE74E0BA5D}"/>
              </a:ext>
            </a:extLst>
          </p:cNvPr>
          <p:cNvSpPr txBox="1"/>
          <p:nvPr/>
        </p:nvSpPr>
        <p:spPr>
          <a:xfrm>
            <a:off x="9043987" y="4481559"/>
            <a:ext cx="6101080" cy="369332"/>
          </a:xfrm>
          <a:prstGeom prst="rect">
            <a:avLst/>
          </a:prstGeom>
          <a:noFill/>
        </p:spPr>
        <p:txBody>
          <a:bodyPr wrap="square">
            <a:spAutoFit/>
          </a:bodyPr>
          <a:lstStyle/>
          <a:p>
            <a:r>
              <a:rPr lang="en-IN" sz="1800" b="1" dirty="0">
                <a:solidFill>
                  <a:srgbClr val="000000"/>
                </a:solidFill>
                <a:latin typeface="Calibri" panose="020F0502020204030204" pitchFamily="34" charset="0"/>
              </a:rPr>
              <a:t>W. Scott </a:t>
            </a:r>
            <a:r>
              <a:rPr lang="en-IN" sz="1800" b="1" dirty="0" err="1">
                <a:solidFill>
                  <a:srgbClr val="000000"/>
                </a:solidFill>
                <a:latin typeface="Calibri" panose="020F0502020204030204" pitchFamily="34" charset="0"/>
              </a:rPr>
              <a:t>Stornetta</a:t>
            </a:r>
            <a:endParaRPr lang="en-IN" sz="1800" b="1" dirty="0">
              <a:solidFill>
                <a:srgbClr val="000000"/>
              </a:solidFill>
              <a:latin typeface="Calibri" panose="020F0502020204030204" pitchFamily="34" charset="0"/>
            </a:endParaRPr>
          </a:p>
        </p:txBody>
      </p:sp>
      <p:pic>
        <p:nvPicPr>
          <p:cNvPr id="20" name="Picture 19">
            <a:extLst>
              <a:ext uri="{FF2B5EF4-FFF2-40B4-BE49-F238E27FC236}">
                <a16:creationId xmlns:a16="http://schemas.microsoft.com/office/drawing/2014/main" id="{E0D70B23-D6AE-1853-76DE-7729118B3FE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96932" y="0"/>
            <a:ext cx="1782000" cy="1188000"/>
          </a:xfrm>
          <a:prstGeom prst="rect">
            <a:avLst/>
          </a:prstGeom>
        </p:spPr>
      </p:pic>
    </p:spTree>
    <p:extLst>
      <p:ext uri="{BB962C8B-B14F-4D97-AF65-F5344CB8AC3E}">
        <p14:creationId xmlns:p14="http://schemas.microsoft.com/office/powerpoint/2010/main" val="4287407482"/>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38196-2D26-9A30-F607-0F6AF261F210}"/>
              </a:ext>
            </a:extLst>
          </p:cNvPr>
          <p:cNvSpPr>
            <a:spLocks noGrp="1"/>
          </p:cNvSpPr>
          <p:nvPr>
            <p:ph type="title"/>
          </p:nvPr>
        </p:nvSpPr>
        <p:spPr>
          <a:xfrm>
            <a:off x="966650" y="1187367"/>
            <a:ext cx="10856755" cy="1423214"/>
          </a:xfrm>
        </p:spPr>
        <p:txBody>
          <a:bodyPr/>
          <a:lstStyle/>
          <a:p>
            <a:r>
              <a:rPr lang="en-IN" dirty="0">
                <a:solidFill>
                  <a:schemeClr val="tx1"/>
                </a:solidFill>
                <a:effectLst>
                  <a:outerShdw blurRad="38100" dist="38100" dir="2700000" algn="tl">
                    <a:srgbClr val="000000">
                      <a:alpha val="43137"/>
                    </a:srgbClr>
                  </a:outerShdw>
                </a:effectLst>
                <a:latin typeface="Rockwell" panose="02060603020205020403" pitchFamily="18" charset="0"/>
              </a:rPr>
              <a:t>Top 6 Main Features of Blockchain Technology</a:t>
            </a:r>
          </a:p>
        </p:txBody>
      </p:sp>
      <p:pic>
        <p:nvPicPr>
          <p:cNvPr id="17" name="Picture 16">
            <a:extLst>
              <a:ext uri="{FF2B5EF4-FFF2-40B4-BE49-F238E27FC236}">
                <a16:creationId xmlns:a16="http://schemas.microsoft.com/office/drawing/2014/main" id="{8622223F-F485-295F-3B17-A3103AC967F9}"/>
              </a:ext>
            </a:extLst>
          </p:cNvPr>
          <p:cNvPicPr>
            <a:picLocks noChangeAspect="1"/>
          </p:cNvPicPr>
          <p:nvPr/>
        </p:nvPicPr>
        <p:blipFill>
          <a:blip r:embed="rId2"/>
          <a:stretch>
            <a:fillRect/>
          </a:stretch>
        </p:blipFill>
        <p:spPr>
          <a:xfrm>
            <a:off x="966650" y="2122714"/>
            <a:ext cx="1393371" cy="1393371"/>
          </a:xfrm>
          <a:prstGeom prst="rect">
            <a:avLst/>
          </a:prstGeom>
        </p:spPr>
      </p:pic>
      <p:sp>
        <p:nvSpPr>
          <p:cNvPr id="19" name="TextBox 18">
            <a:extLst>
              <a:ext uri="{FF2B5EF4-FFF2-40B4-BE49-F238E27FC236}">
                <a16:creationId xmlns:a16="http://schemas.microsoft.com/office/drawing/2014/main" id="{7B0AA943-4D4E-D5BB-20CE-57A541850477}"/>
              </a:ext>
            </a:extLst>
          </p:cNvPr>
          <p:cNvSpPr txBox="1"/>
          <p:nvPr/>
        </p:nvSpPr>
        <p:spPr>
          <a:xfrm>
            <a:off x="966650" y="3516085"/>
            <a:ext cx="6096000" cy="369332"/>
          </a:xfrm>
          <a:prstGeom prst="rect">
            <a:avLst/>
          </a:prstGeom>
          <a:noFill/>
        </p:spPr>
        <p:txBody>
          <a:bodyPr wrap="square">
            <a:spAutoFit/>
          </a:bodyPr>
          <a:lstStyle/>
          <a:p>
            <a:pPr algn="l">
              <a:buFont typeface="+mj-lt"/>
              <a:buAutoNum type="arabicPeriod"/>
            </a:pPr>
            <a:r>
              <a:rPr lang="en-IN" b="1" i="0">
                <a:solidFill>
                  <a:srgbClr val="000000"/>
                </a:solidFill>
                <a:effectLst/>
                <a:latin typeface="Rockwell" panose="02060603020205020403" pitchFamily="18" charset="0"/>
              </a:rPr>
              <a:t> Immutable</a:t>
            </a:r>
            <a:endParaRPr lang="en-IN" b="0" i="0">
              <a:solidFill>
                <a:srgbClr val="000000"/>
              </a:solidFill>
              <a:effectLst/>
              <a:latin typeface="Rockwell" panose="02060603020205020403" pitchFamily="18" charset="0"/>
            </a:endParaRPr>
          </a:p>
        </p:txBody>
      </p:sp>
      <p:pic>
        <p:nvPicPr>
          <p:cNvPr id="21" name="Picture 20">
            <a:extLst>
              <a:ext uri="{FF2B5EF4-FFF2-40B4-BE49-F238E27FC236}">
                <a16:creationId xmlns:a16="http://schemas.microsoft.com/office/drawing/2014/main" id="{0CDA558E-8CF5-3D43-A7A8-AC97ED9D8C3F}"/>
              </a:ext>
            </a:extLst>
          </p:cNvPr>
          <p:cNvPicPr>
            <a:picLocks noChangeAspect="1"/>
          </p:cNvPicPr>
          <p:nvPr/>
        </p:nvPicPr>
        <p:blipFill>
          <a:blip r:embed="rId3"/>
          <a:stretch>
            <a:fillRect/>
          </a:stretch>
        </p:blipFill>
        <p:spPr>
          <a:xfrm>
            <a:off x="5643152" y="2122713"/>
            <a:ext cx="1393371" cy="1393371"/>
          </a:xfrm>
          <a:prstGeom prst="rect">
            <a:avLst/>
          </a:prstGeom>
        </p:spPr>
      </p:pic>
      <p:sp>
        <p:nvSpPr>
          <p:cNvPr id="23" name="TextBox 22">
            <a:extLst>
              <a:ext uri="{FF2B5EF4-FFF2-40B4-BE49-F238E27FC236}">
                <a16:creationId xmlns:a16="http://schemas.microsoft.com/office/drawing/2014/main" id="{430DF4FD-B7BE-661E-5010-1218C231B0F4}"/>
              </a:ext>
            </a:extLst>
          </p:cNvPr>
          <p:cNvSpPr txBox="1"/>
          <p:nvPr/>
        </p:nvSpPr>
        <p:spPr>
          <a:xfrm>
            <a:off x="5643152" y="3526970"/>
            <a:ext cx="6096000" cy="369332"/>
          </a:xfrm>
          <a:prstGeom prst="rect">
            <a:avLst/>
          </a:prstGeom>
          <a:noFill/>
        </p:spPr>
        <p:txBody>
          <a:bodyPr wrap="square">
            <a:spAutoFit/>
          </a:bodyPr>
          <a:lstStyle/>
          <a:p>
            <a:pPr algn="l"/>
            <a:r>
              <a:rPr lang="en-IN" b="1" i="0">
                <a:solidFill>
                  <a:srgbClr val="000000"/>
                </a:solidFill>
                <a:effectLst/>
                <a:latin typeface="Raleway" pitchFamily="2" charset="0"/>
              </a:rPr>
              <a:t>2. Secure</a:t>
            </a:r>
            <a:endParaRPr lang="en-IN" b="0" i="0">
              <a:solidFill>
                <a:srgbClr val="000000"/>
              </a:solidFill>
              <a:effectLst/>
              <a:latin typeface="Raleway" pitchFamily="2" charset="0"/>
            </a:endParaRPr>
          </a:p>
        </p:txBody>
      </p:sp>
      <p:sp>
        <p:nvSpPr>
          <p:cNvPr id="27" name="TextBox 26">
            <a:extLst>
              <a:ext uri="{FF2B5EF4-FFF2-40B4-BE49-F238E27FC236}">
                <a16:creationId xmlns:a16="http://schemas.microsoft.com/office/drawing/2014/main" id="{62602447-DC28-EC27-361D-5118A81B9E36}"/>
              </a:ext>
            </a:extLst>
          </p:cNvPr>
          <p:cNvSpPr txBox="1"/>
          <p:nvPr/>
        </p:nvSpPr>
        <p:spPr>
          <a:xfrm>
            <a:off x="9570721" y="3526970"/>
            <a:ext cx="6096000" cy="369332"/>
          </a:xfrm>
          <a:prstGeom prst="rect">
            <a:avLst/>
          </a:prstGeom>
          <a:noFill/>
        </p:spPr>
        <p:txBody>
          <a:bodyPr wrap="square">
            <a:spAutoFit/>
          </a:bodyPr>
          <a:lstStyle/>
          <a:p>
            <a:pPr algn="l"/>
            <a:r>
              <a:rPr lang="en-IN" b="1" i="0">
                <a:solidFill>
                  <a:srgbClr val="000000"/>
                </a:solidFill>
                <a:effectLst/>
                <a:latin typeface="Raleway" pitchFamily="2" charset="0"/>
              </a:rPr>
              <a:t>3. Decentralized</a:t>
            </a:r>
            <a:endParaRPr lang="en-IN" b="0" i="0">
              <a:solidFill>
                <a:srgbClr val="000000"/>
              </a:solidFill>
              <a:effectLst/>
              <a:latin typeface="Raleway" pitchFamily="2" charset="0"/>
            </a:endParaRPr>
          </a:p>
        </p:txBody>
      </p:sp>
      <p:pic>
        <p:nvPicPr>
          <p:cNvPr id="29" name="Picture 28">
            <a:extLst>
              <a:ext uri="{FF2B5EF4-FFF2-40B4-BE49-F238E27FC236}">
                <a16:creationId xmlns:a16="http://schemas.microsoft.com/office/drawing/2014/main" id="{B26BB4ED-D382-25CD-2098-7D70878B2961}"/>
              </a:ext>
            </a:extLst>
          </p:cNvPr>
          <p:cNvPicPr>
            <a:picLocks noChangeAspect="1"/>
          </p:cNvPicPr>
          <p:nvPr/>
        </p:nvPicPr>
        <p:blipFill>
          <a:blip r:embed="rId4"/>
          <a:stretch>
            <a:fillRect/>
          </a:stretch>
        </p:blipFill>
        <p:spPr>
          <a:xfrm>
            <a:off x="9924816" y="2065328"/>
            <a:ext cx="1450756" cy="1450756"/>
          </a:xfrm>
          <a:prstGeom prst="rect">
            <a:avLst/>
          </a:prstGeom>
        </p:spPr>
      </p:pic>
      <p:pic>
        <p:nvPicPr>
          <p:cNvPr id="31" name="Picture 30">
            <a:extLst>
              <a:ext uri="{FF2B5EF4-FFF2-40B4-BE49-F238E27FC236}">
                <a16:creationId xmlns:a16="http://schemas.microsoft.com/office/drawing/2014/main" id="{D292ECFC-E90B-7238-05EC-7E74CC32AA64}"/>
              </a:ext>
            </a:extLst>
          </p:cNvPr>
          <p:cNvPicPr>
            <a:picLocks noChangeAspect="1"/>
          </p:cNvPicPr>
          <p:nvPr/>
        </p:nvPicPr>
        <p:blipFill>
          <a:blip r:embed="rId5"/>
          <a:stretch>
            <a:fillRect/>
          </a:stretch>
        </p:blipFill>
        <p:spPr>
          <a:xfrm>
            <a:off x="803764" y="4109156"/>
            <a:ext cx="1719142" cy="1467901"/>
          </a:xfrm>
          <a:prstGeom prst="rect">
            <a:avLst/>
          </a:prstGeom>
        </p:spPr>
      </p:pic>
      <p:sp>
        <p:nvSpPr>
          <p:cNvPr id="35" name="TextBox 34">
            <a:extLst>
              <a:ext uri="{FF2B5EF4-FFF2-40B4-BE49-F238E27FC236}">
                <a16:creationId xmlns:a16="http://schemas.microsoft.com/office/drawing/2014/main" id="{CAD02500-E046-EA9C-4D4B-E3AE03C26352}"/>
              </a:ext>
            </a:extLst>
          </p:cNvPr>
          <p:cNvSpPr txBox="1"/>
          <p:nvPr/>
        </p:nvSpPr>
        <p:spPr>
          <a:xfrm>
            <a:off x="966650" y="5616129"/>
            <a:ext cx="7832270" cy="369332"/>
          </a:xfrm>
          <a:prstGeom prst="rect">
            <a:avLst/>
          </a:prstGeom>
          <a:noFill/>
        </p:spPr>
        <p:txBody>
          <a:bodyPr wrap="square">
            <a:spAutoFit/>
          </a:bodyPr>
          <a:lstStyle/>
          <a:p>
            <a:pPr algn="l"/>
            <a:r>
              <a:rPr lang="en-IN" b="1" i="0">
                <a:solidFill>
                  <a:srgbClr val="000000"/>
                </a:solidFill>
                <a:effectLst/>
                <a:latin typeface="Raleway" pitchFamily="2" charset="0"/>
              </a:rPr>
              <a:t>4. Distributed</a:t>
            </a:r>
            <a:endParaRPr lang="en-IN" b="0" i="0">
              <a:solidFill>
                <a:srgbClr val="000000"/>
              </a:solidFill>
              <a:effectLst/>
              <a:latin typeface="Raleway" pitchFamily="2" charset="0"/>
            </a:endParaRPr>
          </a:p>
        </p:txBody>
      </p:sp>
      <p:pic>
        <p:nvPicPr>
          <p:cNvPr id="37" name="Picture 36">
            <a:extLst>
              <a:ext uri="{FF2B5EF4-FFF2-40B4-BE49-F238E27FC236}">
                <a16:creationId xmlns:a16="http://schemas.microsoft.com/office/drawing/2014/main" id="{CCC3B030-F0D8-D8EF-113F-1B010DDBD100}"/>
              </a:ext>
            </a:extLst>
          </p:cNvPr>
          <p:cNvPicPr>
            <a:picLocks noChangeAspect="1"/>
          </p:cNvPicPr>
          <p:nvPr/>
        </p:nvPicPr>
        <p:blipFill>
          <a:blip r:embed="rId6"/>
          <a:stretch>
            <a:fillRect/>
          </a:stretch>
        </p:blipFill>
        <p:spPr>
          <a:xfrm>
            <a:off x="5561106" y="4104859"/>
            <a:ext cx="1480034" cy="1370655"/>
          </a:xfrm>
          <a:prstGeom prst="rect">
            <a:avLst/>
          </a:prstGeom>
        </p:spPr>
      </p:pic>
      <p:sp>
        <p:nvSpPr>
          <p:cNvPr id="39" name="TextBox 38">
            <a:extLst>
              <a:ext uri="{FF2B5EF4-FFF2-40B4-BE49-F238E27FC236}">
                <a16:creationId xmlns:a16="http://schemas.microsoft.com/office/drawing/2014/main" id="{4B068672-6CFD-516C-F5D4-64F5FDC425CC}"/>
              </a:ext>
            </a:extLst>
          </p:cNvPr>
          <p:cNvSpPr txBox="1"/>
          <p:nvPr/>
        </p:nvSpPr>
        <p:spPr>
          <a:xfrm>
            <a:off x="5224775" y="5551192"/>
            <a:ext cx="7832270" cy="369332"/>
          </a:xfrm>
          <a:prstGeom prst="rect">
            <a:avLst/>
          </a:prstGeom>
          <a:noFill/>
        </p:spPr>
        <p:txBody>
          <a:bodyPr wrap="square">
            <a:spAutoFit/>
          </a:bodyPr>
          <a:lstStyle/>
          <a:p>
            <a:pPr algn="l"/>
            <a:r>
              <a:rPr lang="en-IN" b="1" i="0" dirty="0">
                <a:solidFill>
                  <a:srgbClr val="000000"/>
                </a:solidFill>
                <a:effectLst/>
                <a:latin typeface="Raleway" pitchFamily="2" charset="0"/>
              </a:rPr>
              <a:t>5. Faster Settlement</a:t>
            </a:r>
            <a:endParaRPr lang="en-IN" b="0" i="0" dirty="0">
              <a:solidFill>
                <a:srgbClr val="000000"/>
              </a:solidFill>
              <a:effectLst/>
              <a:latin typeface="Raleway" pitchFamily="2" charset="0"/>
            </a:endParaRPr>
          </a:p>
        </p:txBody>
      </p:sp>
      <p:pic>
        <p:nvPicPr>
          <p:cNvPr id="41" name="Picture 40">
            <a:extLst>
              <a:ext uri="{FF2B5EF4-FFF2-40B4-BE49-F238E27FC236}">
                <a16:creationId xmlns:a16="http://schemas.microsoft.com/office/drawing/2014/main" id="{ED0AB9A5-4709-C184-43AB-7548935ED6B2}"/>
              </a:ext>
            </a:extLst>
          </p:cNvPr>
          <p:cNvPicPr>
            <a:picLocks noChangeAspect="1"/>
          </p:cNvPicPr>
          <p:nvPr/>
        </p:nvPicPr>
        <p:blipFill>
          <a:blip r:embed="rId7"/>
          <a:stretch>
            <a:fillRect/>
          </a:stretch>
        </p:blipFill>
        <p:spPr>
          <a:xfrm>
            <a:off x="9924816" y="4113432"/>
            <a:ext cx="1393371" cy="1463625"/>
          </a:xfrm>
          <a:prstGeom prst="rect">
            <a:avLst/>
          </a:prstGeom>
        </p:spPr>
      </p:pic>
      <p:sp>
        <p:nvSpPr>
          <p:cNvPr id="43" name="TextBox 42">
            <a:extLst>
              <a:ext uri="{FF2B5EF4-FFF2-40B4-BE49-F238E27FC236}">
                <a16:creationId xmlns:a16="http://schemas.microsoft.com/office/drawing/2014/main" id="{13A05ECC-4794-CB9A-0F1F-FD99E6459F4B}"/>
              </a:ext>
            </a:extLst>
          </p:cNvPr>
          <p:cNvSpPr txBox="1"/>
          <p:nvPr/>
        </p:nvSpPr>
        <p:spPr>
          <a:xfrm>
            <a:off x="9673929" y="5551192"/>
            <a:ext cx="7832270" cy="369332"/>
          </a:xfrm>
          <a:prstGeom prst="rect">
            <a:avLst/>
          </a:prstGeom>
          <a:noFill/>
        </p:spPr>
        <p:txBody>
          <a:bodyPr wrap="square">
            <a:spAutoFit/>
          </a:bodyPr>
          <a:lstStyle/>
          <a:p>
            <a:pPr algn="l"/>
            <a:r>
              <a:rPr lang="en-IN" b="1" i="0">
                <a:solidFill>
                  <a:srgbClr val="000000"/>
                </a:solidFill>
                <a:effectLst/>
                <a:latin typeface="Raleway" pitchFamily="2" charset="0"/>
              </a:rPr>
              <a:t>6. Consensus</a:t>
            </a:r>
            <a:endParaRPr lang="en-IN" b="0" i="0">
              <a:solidFill>
                <a:srgbClr val="000000"/>
              </a:solidFill>
              <a:effectLst/>
              <a:latin typeface="Raleway" pitchFamily="2" charset="0"/>
            </a:endParaRPr>
          </a:p>
        </p:txBody>
      </p:sp>
      <p:pic>
        <p:nvPicPr>
          <p:cNvPr id="6" name="Picture 5">
            <a:extLst>
              <a:ext uri="{FF2B5EF4-FFF2-40B4-BE49-F238E27FC236}">
                <a16:creationId xmlns:a16="http://schemas.microsoft.com/office/drawing/2014/main" id="{4CC39D73-173F-08E0-5408-FAA65E9696EC}"/>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796932" y="0"/>
            <a:ext cx="1782000" cy="1188000"/>
          </a:xfrm>
          <a:prstGeom prst="rect">
            <a:avLst/>
          </a:prstGeom>
        </p:spPr>
      </p:pic>
    </p:spTree>
    <p:extLst>
      <p:ext uri="{BB962C8B-B14F-4D97-AF65-F5344CB8AC3E}">
        <p14:creationId xmlns:p14="http://schemas.microsoft.com/office/powerpoint/2010/main" val="1311722803"/>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D66093-6524-1DE2-216C-8B0E303BC816}"/>
              </a:ext>
            </a:extLst>
          </p:cNvPr>
          <p:cNvSpPr>
            <a:spLocks noGrp="1"/>
          </p:cNvSpPr>
          <p:nvPr>
            <p:ph type="title"/>
          </p:nvPr>
        </p:nvSpPr>
        <p:spPr>
          <a:xfrm>
            <a:off x="1440399" y="1280226"/>
            <a:ext cx="9603275" cy="1049235"/>
          </a:xfrm>
        </p:spPr>
        <p:txBody>
          <a:bodyPr/>
          <a:lstStyle/>
          <a:p>
            <a:r>
              <a:rPr lang="en-IN" dirty="0">
                <a:solidFill>
                  <a:schemeClr val="tx1"/>
                </a:solidFill>
                <a:effectLst>
                  <a:outerShdw blurRad="38100" dist="38100" dir="2700000" algn="tl">
                    <a:srgbClr val="000000">
                      <a:alpha val="43137"/>
                    </a:srgbClr>
                  </a:outerShdw>
                </a:effectLst>
                <a:latin typeface="Rockwell" panose="02060603020205020403" pitchFamily="18" charset="0"/>
              </a:rPr>
              <a:t>Most Uses of Blockchain Technology</a:t>
            </a:r>
          </a:p>
        </p:txBody>
      </p:sp>
      <p:pic>
        <p:nvPicPr>
          <p:cNvPr id="4" name="Picture 4" descr="Logo&#10;&#10;Description automatically generated">
            <a:extLst>
              <a:ext uri="{FF2B5EF4-FFF2-40B4-BE49-F238E27FC236}">
                <a16:creationId xmlns:a16="http://schemas.microsoft.com/office/drawing/2014/main" id="{E1D51894-DE8A-97B4-E5DF-076830B8B4A7}"/>
              </a:ext>
            </a:extLst>
          </p:cNvPr>
          <p:cNvPicPr>
            <a:picLocks noGrp="1" noChangeAspect="1"/>
          </p:cNvPicPr>
          <p:nvPr>
            <p:ph idx="1"/>
          </p:nvPr>
        </p:nvPicPr>
        <p:blipFill>
          <a:blip r:embed="rId2"/>
          <a:stretch>
            <a:fillRect/>
          </a:stretch>
        </p:blipFill>
        <p:spPr>
          <a:xfrm>
            <a:off x="1440399" y="2326281"/>
            <a:ext cx="1785600" cy="1785600"/>
          </a:xfrm>
        </p:spPr>
      </p:pic>
      <p:sp>
        <p:nvSpPr>
          <p:cNvPr id="11" name="TextBox 10">
            <a:extLst>
              <a:ext uri="{FF2B5EF4-FFF2-40B4-BE49-F238E27FC236}">
                <a16:creationId xmlns:a16="http://schemas.microsoft.com/office/drawing/2014/main" id="{C4009DB4-7765-7D8F-F6D7-A0C3FE55189C}"/>
              </a:ext>
            </a:extLst>
          </p:cNvPr>
          <p:cNvSpPr txBox="1"/>
          <p:nvPr/>
        </p:nvSpPr>
        <p:spPr>
          <a:xfrm>
            <a:off x="1097280" y="4197311"/>
            <a:ext cx="2529840" cy="923330"/>
          </a:xfrm>
          <a:prstGeom prst="rect">
            <a:avLst/>
          </a:prstGeom>
          <a:noFill/>
        </p:spPr>
        <p:txBody>
          <a:bodyPr wrap="square" lIns="91440" tIns="45720" rIns="91440" bIns="45720" anchor="t">
            <a:spAutoFit/>
          </a:bodyPr>
          <a:lstStyle/>
          <a:p>
            <a:r>
              <a:rPr lang="en-US" dirty="0">
                <a:latin typeface="Rockwell"/>
              </a:rPr>
              <a:t>Transparent, trustless and immutable system for healthcare</a:t>
            </a:r>
            <a:endParaRPr lang="en-IN" dirty="0">
              <a:latin typeface="Rockwell"/>
            </a:endParaRPr>
          </a:p>
        </p:txBody>
      </p:sp>
      <p:pic>
        <p:nvPicPr>
          <p:cNvPr id="5" name="Picture 5" descr="Icon&#10;&#10;Description automatically generated">
            <a:extLst>
              <a:ext uri="{FF2B5EF4-FFF2-40B4-BE49-F238E27FC236}">
                <a16:creationId xmlns:a16="http://schemas.microsoft.com/office/drawing/2014/main" id="{0814B3D0-F3E1-8A28-31A3-0207322CB30C}"/>
              </a:ext>
            </a:extLst>
          </p:cNvPr>
          <p:cNvPicPr>
            <a:picLocks noChangeAspect="1"/>
          </p:cNvPicPr>
          <p:nvPr/>
        </p:nvPicPr>
        <p:blipFill>
          <a:blip r:embed="rId3"/>
          <a:stretch>
            <a:fillRect/>
          </a:stretch>
        </p:blipFill>
        <p:spPr>
          <a:xfrm>
            <a:off x="5486400" y="2326281"/>
            <a:ext cx="1785600" cy="1785600"/>
          </a:xfrm>
          <a:prstGeom prst="rect">
            <a:avLst/>
          </a:prstGeom>
        </p:spPr>
      </p:pic>
      <p:sp>
        <p:nvSpPr>
          <p:cNvPr id="13" name="TextBox 12">
            <a:extLst>
              <a:ext uri="{FF2B5EF4-FFF2-40B4-BE49-F238E27FC236}">
                <a16:creationId xmlns:a16="http://schemas.microsoft.com/office/drawing/2014/main" id="{0F0B45F3-9C15-BB92-5B2E-0B9DBC2043CA}"/>
              </a:ext>
            </a:extLst>
          </p:cNvPr>
          <p:cNvSpPr txBox="1"/>
          <p:nvPr/>
        </p:nvSpPr>
        <p:spPr>
          <a:xfrm>
            <a:off x="5364480" y="4197311"/>
            <a:ext cx="2529840" cy="952977"/>
          </a:xfrm>
          <a:prstGeom prst="rect">
            <a:avLst/>
          </a:prstGeom>
          <a:noFill/>
        </p:spPr>
        <p:txBody>
          <a:bodyPr wrap="square" lIns="91440" tIns="45720" rIns="91440" bIns="45720" anchor="t">
            <a:spAutoFit/>
          </a:bodyPr>
          <a:lstStyle/>
          <a:p>
            <a:r>
              <a:rPr lang="en-US" dirty="0">
                <a:latin typeface="Rockwell"/>
              </a:rPr>
              <a:t>Greater liquidity and automated property management</a:t>
            </a:r>
            <a:endParaRPr lang="en-IN" dirty="0">
              <a:latin typeface="Rockwell"/>
            </a:endParaRPr>
          </a:p>
        </p:txBody>
      </p:sp>
      <p:pic>
        <p:nvPicPr>
          <p:cNvPr id="15" name="Picture 14">
            <a:extLst>
              <a:ext uri="{FF2B5EF4-FFF2-40B4-BE49-F238E27FC236}">
                <a16:creationId xmlns:a16="http://schemas.microsoft.com/office/drawing/2014/main" id="{34C8380C-BAC6-D7CC-C317-35E6DCDF6994}"/>
              </a:ext>
            </a:extLst>
          </p:cNvPr>
          <p:cNvPicPr>
            <a:picLocks noChangeAspect="1"/>
          </p:cNvPicPr>
          <p:nvPr/>
        </p:nvPicPr>
        <p:blipFill>
          <a:blip r:embed="rId4"/>
          <a:stretch>
            <a:fillRect/>
          </a:stretch>
        </p:blipFill>
        <p:spPr>
          <a:xfrm>
            <a:off x="9258074" y="2326281"/>
            <a:ext cx="1785600" cy="1785600"/>
          </a:xfrm>
          <a:prstGeom prst="rect">
            <a:avLst/>
          </a:prstGeom>
        </p:spPr>
      </p:pic>
      <p:sp>
        <p:nvSpPr>
          <p:cNvPr id="17" name="TextBox 16">
            <a:extLst>
              <a:ext uri="{FF2B5EF4-FFF2-40B4-BE49-F238E27FC236}">
                <a16:creationId xmlns:a16="http://schemas.microsoft.com/office/drawing/2014/main" id="{68725D25-DEDB-7084-A361-DA2362ABAA6A}"/>
              </a:ext>
            </a:extLst>
          </p:cNvPr>
          <p:cNvSpPr txBox="1"/>
          <p:nvPr/>
        </p:nvSpPr>
        <p:spPr>
          <a:xfrm>
            <a:off x="9159405" y="4190445"/>
            <a:ext cx="2529840" cy="923330"/>
          </a:xfrm>
          <a:prstGeom prst="rect">
            <a:avLst/>
          </a:prstGeom>
          <a:noFill/>
        </p:spPr>
        <p:txBody>
          <a:bodyPr wrap="square" lIns="91440" tIns="45720" rIns="91440" bIns="45720" anchor="t">
            <a:spAutoFit/>
          </a:bodyPr>
          <a:lstStyle/>
          <a:p>
            <a:r>
              <a:rPr lang="en-US" dirty="0">
                <a:latin typeface="Rockwell"/>
              </a:rPr>
              <a:t>Peer-to-peer distribution, better energy management</a:t>
            </a:r>
            <a:endParaRPr lang="en-IN" dirty="0">
              <a:latin typeface="Rockwell"/>
            </a:endParaRPr>
          </a:p>
        </p:txBody>
      </p:sp>
      <p:pic>
        <p:nvPicPr>
          <p:cNvPr id="6" name="Picture 5">
            <a:extLst>
              <a:ext uri="{FF2B5EF4-FFF2-40B4-BE49-F238E27FC236}">
                <a16:creationId xmlns:a16="http://schemas.microsoft.com/office/drawing/2014/main" id="{B08A6F98-499C-8E6D-04E1-CAF07CC32B6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796932" y="0"/>
            <a:ext cx="1782000" cy="1188000"/>
          </a:xfrm>
          <a:prstGeom prst="rect">
            <a:avLst/>
          </a:prstGeom>
        </p:spPr>
      </p:pic>
    </p:spTree>
    <p:extLst>
      <p:ext uri="{BB962C8B-B14F-4D97-AF65-F5344CB8AC3E}">
        <p14:creationId xmlns:p14="http://schemas.microsoft.com/office/powerpoint/2010/main" val="3212885402"/>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B8CF703-1D8A-7F08-8D66-06EBE652D432}"/>
              </a:ext>
            </a:extLst>
          </p:cNvPr>
          <p:cNvPicPr>
            <a:picLocks noChangeAspect="1"/>
          </p:cNvPicPr>
          <p:nvPr/>
        </p:nvPicPr>
        <p:blipFill>
          <a:blip r:embed="rId2"/>
          <a:stretch>
            <a:fillRect/>
          </a:stretch>
        </p:blipFill>
        <p:spPr>
          <a:xfrm>
            <a:off x="1047184" y="109823"/>
            <a:ext cx="1785600" cy="1785600"/>
          </a:xfrm>
          <a:prstGeom prst="rect">
            <a:avLst/>
          </a:prstGeom>
        </p:spPr>
      </p:pic>
      <p:sp>
        <p:nvSpPr>
          <p:cNvPr id="7" name="TextBox 6">
            <a:extLst>
              <a:ext uri="{FF2B5EF4-FFF2-40B4-BE49-F238E27FC236}">
                <a16:creationId xmlns:a16="http://schemas.microsoft.com/office/drawing/2014/main" id="{9694A4E5-CDA3-D653-229E-E512D8B28AC4}"/>
              </a:ext>
            </a:extLst>
          </p:cNvPr>
          <p:cNvSpPr txBox="1"/>
          <p:nvPr/>
        </p:nvSpPr>
        <p:spPr>
          <a:xfrm>
            <a:off x="1000760" y="2047240"/>
            <a:ext cx="2418080" cy="923330"/>
          </a:xfrm>
          <a:prstGeom prst="rect">
            <a:avLst/>
          </a:prstGeom>
          <a:noFill/>
        </p:spPr>
        <p:txBody>
          <a:bodyPr wrap="square" lIns="91440" tIns="45720" rIns="91440" bIns="45720" anchor="t">
            <a:spAutoFit/>
          </a:bodyPr>
          <a:lstStyle/>
          <a:p>
            <a:r>
              <a:rPr lang="en-IN">
                <a:latin typeface="Rockwell"/>
              </a:rPr>
              <a:t>No fees, no intermediates, and better reach</a:t>
            </a:r>
          </a:p>
        </p:txBody>
      </p:sp>
      <p:pic>
        <p:nvPicPr>
          <p:cNvPr id="9" name="Picture 8">
            <a:extLst>
              <a:ext uri="{FF2B5EF4-FFF2-40B4-BE49-F238E27FC236}">
                <a16:creationId xmlns:a16="http://schemas.microsoft.com/office/drawing/2014/main" id="{2CF54487-135D-015D-DA9F-5F731198E214}"/>
              </a:ext>
            </a:extLst>
          </p:cNvPr>
          <p:cNvPicPr>
            <a:picLocks noChangeAspect="1"/>
          </p:cNvPicPr>
          <p:nvPr/>
        </p:nvPicPr>
        <p:blipFill>
          <a:blip r:embed="rId3"/>
          <a:stretch>
            <a:fillRect/>
          </a:stretch>
        </p:blipFill>
        <p:spPr>
          <a:xfrm>
            <a:off x="5072380" y="109823"/>
            <a:ext cx="1785600" cy="1785600"/>
          </a:xfrm>
          <a:prstGeom prst="rect">
            <a:avLst/>
          </a:prstGeom>
        </p:spPr>
      </p:pic>
      <p:sp>
        <p:nvSpPr>
          <p:cNvPr id="11" name="TextBox 10">
            <a:extLst>
              <a:ext uri="{FF2B5EF4-FFF2-40B4-BE49-F238E27FC236}">
                <a16:creationId xmlns:a16="http://schemas.microsoft.com/office/drawing/2014/main" id="{C12486DE-C6EE-C92A-2D17-516C7448F650}"/>
              </a:ext>
            </a:extLst>
          </p:cNvPr>
          <p:cNvSpPr txBox="1"/>
          <p:nvPr/>
        </p:nvSpPr>
        <p:spPr>
          <a:xfrm>
            <a:off x="4770120" y="2047240"/>
            <a:ext cx="2651760" cy="923330"/>
          </a:xfrm>
          <a:prstGeom prst="rect">
            <a:avLst/>
          </a:prstGeom>
          <a:noFill/>
        </p:spPr>
        <p:txBody>
          <a:bodyPr wrap="square" lIns="91440" tIns="45720" rIns="91440" bIns="45720" anchor="t">
            <a:spAutoFit/>
          </a:bodyPr>
          <a:lstStyle/>
          <a:p>
            <a:r>
              <a:rPr lang="en-US">
                <a:latin typeface="Rockwell"/>
              </a:rPr>
              <a:t>Better KYC/AML, faster interbank transactions, and data security</a:t>
            </a:r>
            <a:endParaRPr lang="en-IN">
              <a:latin typeface="Rockwell"/>
            </a:endParaRPr>
          </a:p>
        </p:txBody>
      </p:sp>
      <p:pic>
        <p:nvPicPr>
          <p:cNvPr id="15" name="Picture 14">
            <a:extLst>
              <a:ext uri="{FF2B5EF4-FFF2-40B4-BE49-F238E27FC236}">
                <a16:creationId xmlns:a16="http://schemas.microsoft.com/office/drawing/2014/main" id="{BE16E0E0-C306-BE05-CC45-171D79AD5F2E}"/>
              </a:ext>
            </a:extLst>
          </p:cNvPr>
          <p:cNvPicPr>
            <a:picLocks noChangeAspect="1"/>
          </p:cNvPicPr>
          <p:nvPr/>
        </p:nvPicPr>
        <p:blipFill>
          <a:blip r:embed="rId4"/>
          <a:stretch>
            <a:fillRect/>
          </a:stretch>
        </p:blipFill>
        <p:spPr>
          <a:xfrm>
            <a:off x="9357320" y="109823"/>
            <a:ext cx="1785600" cy="1785600"/>
          </a:xfrm>
          <a:prstGeom prst="rect">
            <a:avLst/>
          </a:prstGeom>
        </p:spPr>
      </p:pic>
      <p:sp>
        <p:nvSpPr>
          <p:cNvPr id="17" name="TextBox 16">
            <a:extLst>
              <a:ext uri="{FF2B5EF4-FFF2-40B4-BE49-F238E27FC236}">
                <a16:creationId xmlns:a16="http://schemas.microsoft.com/office/drawing/2014/main" id="{74D8BD10-90A5-1031-AEF3-A0FFDC60372E}"/>
              </a:ext>
            </a:extLst>
          </p:cNvPr>
          <p:cNvSpPr txBox="1"/>
          <p:nvPr/>
        </p:nvSpPr>
        <p:spPr>
          <a:xfrm>
            <a:off x="9329316" y="2047240"/>
            <a:ext cx="2489200" cy="923330"/>
          </a:xfrm>
          <a:prstGeom prst="rect">
            <a:avLst/>
          </a:prstGeom>
          <a:noFill/>
        </p:spPr>
        <p:txBody>
          <a:bodyPr wrap="square" lIns="91440" tIns="45720" rIns="91440" bIns="45720" anchor="t">
            <a:spAutoFit/>
          </a:bodyPr>
          <a:lstStyle/>
          <a:p>
            <a:r>
              <a:rPr lang="en-IN">
                <a:latin typeface="Rockwell"/>
              </a:rPr>
              <a:t>Better food tracking from origin to the consumption</a:t>
            </a:r>
          </a:p>
        </p:txBody>
      </p:sp>
      <p:pic>
        <p:nvPicPr>
          <p:cNvPr id="19" name="Picture 18">
            <a:extLst>
              <a:ext uri="{FF2B5EF4-FFF2-40B4-BE49-F238E27FC236}">
                <a16:creationId xmlns:a16="http://schemas.microsoft.com/office/drawing/2014/main" id="{7A02E520-733D-D48D-4B77-E4010A2E354D}"/>
              </a:ext>
            </a:extLst>
          </p:cNvPr>
          <p:cNvPicPr>
            <a:picLocks noChangeAspect="1"/>
          </p:cNvPicPr>
          <p:nvPr/>
        </p:nvPicPr>
        <p:blipFill>
          <a:blip r:embed="rId5"/>
          <a:stretch>
            <a:fillRect/>
          </a:stretch>
        </p:blipFill>
        <p:spPr>
          <a:xfrm>
            <a:off x="1000760" y="3274205"/>
            <a:ext cx="1974016" cy="1785600"/>
          </a:xfrm>
          <a:prstGeom prst="rect">
            <a:avLst/>
          </a:prstGeom>
        </p:spPr>
      </p:pic>
      <p:sp>
        <p:nvSpPr>
          <p:cNvPr id="21" name="TextBox 20">
            <a:extLst>
              <a:ext uri="{FF2B5EF4-FFF2-40B4-BE49-F238E27FC236}">
                <a16:creationId xmlns:a16="http://schemas.microsoft.com/office/drawing/2014/main" id="{7B4D846F-C1A8-7B5D-0C5E-90BBF0306BF7}"/>
              </a:ext>
            </a:extLst>
          </p:cNvPr>
          <p:cNvSpPr txBox="1"/>
          <p:nvPr/>
        </p:nvSpPr>
        <p:spPr>
          <a:xfrm>
            <a:off x="883920" y="5147995"/>
            <a:ext cx="2651760" cy="923330"/>
          </a:xfrm>
          <a:prstGeom prst="rect">
            <a:avLst/>
          </a:prstGeom>
          <a:noFill/>
        </p:spPr>
        <p:txBody>
          <a:bodyPr wrap="square" lIns="91440" tIns="45720" rIns="91440" bIns="45720" anchor="t">
            <a:spAutoFit/>
          </a:bodyPr>
          <a:lstStyle/>
          <a:p>
            <a:r>
              <a:rPr lang="en-IN" dirty="0">
                <a:latin typeface="Rockwell"/>
              </a:rPr>
              <a:t>Better automation and the ability to distribute data transparency</a:t>
            </a:r>
          </a:p>
        </p:txBody>
      </p:sp>
      <p:pic>
        <p:nvPicPr>
          <p:cNvPr id="23" name="Picture 22">
            <a:extLst>
              <a:ext uri="{FF2B5EF4-FFF2-40B4-BE49-F238E27FC236}">
                <a16:creationId xmlns:a16="http://schemas.microsoft.com/office/drawing/2014/main" id="{0C6D2F1B-89F3-E796-4699-D8D816EA82F2}"/>
              </a:ext>
            </a:extLst>
          </p:cNvPr>
          <p:cNvPicPr>
            <a:picLocks noChangeAspect="1"/>
          </p:cNvPicPr>
          <p:nvPr/>
        </p:nvPicPr>
        <p:blipFill>
          <a:blip r:embed="rId6"/>
          <a:stretch>
            <a:fillRect/>
          </a:stretch>
        </p:blipFill>
        <p:spPr>
          <a:xfrm>
            <a:off x="5072380" y="3175886"/>
            <a:ext cx="1777664" cy="1785600"/>
          </a:xfrm>
          <a:prstGeom prst="rect">
            <a:avLst/>
          </a:prstGeom>
        </p:spPr>
      </p:pic>
      <p:sp>
        <p:nvSpPr>
          <p:cNvPr id="25" name="TextBox 24">
            <a:extLst>
              <a:ext uri="{FF2B5EF4-FFF2-40B4-BE49-F238E27FC236}">
                <a16:creationId xmlns:a16="http://schemas.microsoft.com/office/drawing/2014/main" id="{F7F40165-48F1-C7B1-9787-E23D09DC2675}"/>
              </a:ext>
            </a:extLst>
          </p:cNvPr>
          <p:cNvSpPr txBox="1"/>
          <p:nvPr/>
        </p:nvSpPr>
        <p:spPr>
          <a:xfrm>
            <a:off x="4770120" y="5147995"/>
            <a:ext cx="2509520" cy="923330"/>
          </a:xfrm>
          <a:prstGeom prst="rect">
            <a:avLst/>
          </a:prstGeom>
          <a:noFill/>
        </p:spPr>
        <p:txBody>
          <a:bodyPr wrap="square" lIns="91440" tIns="45720" rIns="91440" bIns="45720" anchor="t">
            <a:spAutoFit/>
          </a:bodyPr>
          <a:lstStyle/>
          <a:p>
            <a:r>
              <a:rPr lang="en-IN" dirty="0">
                <a:latin typeface="Rockwell"/>
              </a:rPr>
              <a:t>Less paperwork, automated insurance audits and claims</a:t>
            </a:r>
          </a:p>
        </p:txBody>
      </p:sp>
      <p:pic>
        <p:nvPicPr>
          <p:cNvPr id="27" name="Picture 26">
            <a:extLst>
              <a:ext uri="{FF2B5EF4-FFF2-40B4-BE49-F238E27FC236}">
                <a16:creationId xmlns:a16="http://schemas.microsoft.com/office/drawing/2014/main" id="{6B8449E6-DADA-C945-F32C-DE0B7A58A358}"/>
              </a:ext>
            </a:extLst>
          </p:cNvPr>
          <p:cNvPicPr>
            <a:picLocks noChangeAspect="1"/>
          </p:cNvPicPr>
          <p:nvPr/>
        </p:nvPicPr>
        <p:blipFill>
          <a:blip r:embed="rId7"/>
          <a:stretch>
            <a:fillRect/>
          </a:stretch>
        </p:blipFill>
        <p:spPr>
          <a:xfrm>
            <a:off x="9349349" y="3274205"/>
            <a:ext cx="1793571" cy="1785600"/>
          </a:xfrm>
          <a:prstGeom prst="rect">
            <a:avLst/>
          </a:prstGeom>
        </p:spPr>
      </p:pic>
      <p:sp>
        <p:nvSpPr>
          <p:cNvPr id="29" name="TextBox 28">
            <a:extLst>
              <a:ext uri="{FF2B5EF4-FFF2-40B4-BE49-F238E27FC236}">
                <a16:creationId xmlns:a16="http://schemas.microsoft.com/office/drawing/2014/main" id="{F1E67FCE-EDA0-F842-6035-104B27613FA4}"/>
              </a:ext>
            </a:extLst>
          </p:cNvPr>
          <p:cNvSpPr txBox="1"/>
          <p:nvPr/>
        </p:nvSpPr>
        <p:spPr>
          <a:xfrm>
            <a:off x="9293402" y="5149832"/>
            <a:ext cx="2509520" cy="923330"/>
          </a:xfrm>
          <a:prstGeom prst="rect">
            <a:avLst/>
          </a:prstGeom>
          <a:noFill/>
        </p:spPr>
        <p:txBody>
          <a:bodyPr wrap="square" lIns="91440" tIns="45720" rIns="91440" bIns="45720" anchor="t">
            <a:spAutoFit/>
          </a:bodyPr>
          <a:lstStyle/>
          <a:p>
            <a:r>
              <a:rPr lang="en-US" dirty="0">
                <a:latin typeface="Rockwell"/>
              </a:rPr>
              <a:t>eSport management, and improved production process</a:t>
            </a:r>
            <a:endParaRPr lang="en-IN" dirty="0">
              <a:latin typeface="Rockwell"/>
            </a:endParaRPr>
          </a:p>
        </p:txBody>
      </p:sp>
      <p:pic>
        <p:nvPicPr>
          <p:cNvPr id="4" name="Picture 3">
            <a:extLst>
              <a:ext uri="{FF2B5EF4-FFF2-40B4-BE49-F238E27FC236}">
                <a16:creationId xmlns:a16="http://schemas.microsoft.com/office/drawing/2014/main" id="{DE54A201-BE18-F6EB-299C-113C4FF6728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796932" y="0"/>
            <a:ext cx="1782000" cy="1188000"/>
          </a:xfrm>
          <a:prstGeom prst="rect">
            <a:avLst/>
          </a:prstGeom>
        </p:spPr>
      </p:pic>
    </p:spTree>
    <p:extLst>
      <p:ext uri="{BB962C8B-B14F-4D97-AF65-F5344CB8AC3E}">
        <p14:creationId xmlns:p14="http://schemas.microsoft.com/office/powerpoint/2010/main" val="499357062"/>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546484-38B0-6EE5-2A67-F2C7E771CCB1}"/>
              </a:ext>
            </a:extLst>
          </p:cNvPr>
          <p:cNvSpPr>
            <a:spLocks noGrp="1"/>
          </p:cNvSpPr>
          <p:nvPr>
            <p:ph type="title"/>
          </p:nvPr>
        </p:nvSpPr>
        <p:spPr>
          <a:xfrm>
            <a:off x="1510215" y="1186488"/>
            <a:ext cx="10058400" cy="1450757"/>
          </a:xfrm>
        </p:spPr>
        <p:txBody>
          <a:bodyPr/>
          <a:lstStyle/>
          <a:p>
            <a:r>
              <a:rPr lang="en-IN" dirty="0">
                <a:solidFill>
                  <a:schemeClr val="tx1"/>
                </a:solidFill>
                <a:effectLst>
                  <a:outerShdw blurRad="38100" dist="38100" dir="2700000" algn="tl">
                    <a:srgbClr val="000000">
                      <a:alpha val="43137"/>
                    </a:srgbClr>
                  </a:outerShdw>
                </a:effectLst>
                <a:latin typeface="Rockwell" panose="02060603020205020403" pitchFamily="18" charset="0"/>
              </a:rPr>
              <a:t>Tamil </a:t>
            </a:r>
            <a:r>
              <a:rPr lang="en-IN" dirty="0" err="1">
                <a:solidFill>
                  <a:schemeClr val="tx1"/>
                </a:solidFill>
                <a:effectLst>
                  <a:outerShdw blurRad="38100" dist="38100" dir="2700000" algn="tl">
                    <a:srgbClr val="000000">
                      <a:alpha val="43137"/>
                    </a:srgbClr>
                  </a:outerShdw>
                </a:effectLst>
                <a:latin typeface="Rockwell" panose="02060603020205020403" pitchFamily="18" charset="0"/>
              </a:rPr>
              <a:t>Nadu’S</a:t>
            </a:r>
            <a:r>
              <a:rPr lang="en-IN" dirty="0">
                <a:solidFill>
                  <a:schemeClr val="tx1"/>
                </a:solidFill>
                <a:effectLst>
                  <a:outerShdw blurRad="38100" dist="38100" dir="2700000" algn="tl">
                    <a:srgbClr val="000000">
                      <a:alpha val="43137"/>
                    </a:srgbClr>
                  </a:outerShdw>
                </a:effectLst>
                <a:latin typeface="Rockwell" panose="02060603020205020403" pitchFamily="18" charset="0"/>
              </a:rPr>
              <a:t> First Blockchain Policy in 2020</a:t>
            </a:r>
          </a:p>
        </p:txBody>
      </p:sp>
      <p:pic>
        <p:nvPicPr>
          <p:cNvPr id="7" name="Picture 6">
            <a:extLst>
              <a:ext uri="{FF2B5EF4-FFF2-40B4-BE49-F238E27FC236}">
                <a16:creationId xmlns:a16="http://schemas.microsoft.com/office/drawing/2014/main" id="{BDBB129F-1C80-CD18-385E-51E3775F1860}"/>
              </a:ext>
            </a:extLst>
          </p:cNvPr>
          <p:cNvPicPr>
            <a:picLocks noChangeAspect="1"/>
          </p:cNvPicPr>
          <p:nvPr/>
        </p:nvPicPr>
        <p:blipFill>
          <a:blip r:embed="rId2"/>
          <a:stretch>
            <a:fillRect/>
          </a:stretch>
        </p:blipFill>
        <p:spPr>
          <a:xfrm>
            <a:off x="2879559" y="2507258"/>
            <a:ext cx="6432881" cy="3302170"/>
          </a:xfrm>
          <a:prstGeom prst="rect">
            <a:avLst/>
          </a:prstGeom>
        </p:spPr>
      </p:pic>
      <p:pic>
        <p:nvPicPr>
          <p:cNvPr id="8" name="Picture 7">
            <a:extLst>
              <a:ext uri="{FF2B5EF4-FFF2-40B4-BE49-F238E27FC236}">
                <a16:creationId xmlns:a16="http://schemas.microsoft.com/office/drawing/2014/main" id="{F8897A75-9C91-7FC0-F075-E052764535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555900"/>
            <a:ext cx="1450758" cy="1450758"/>
          </a:xfrm>
          <a:prstGeom prst="rect">
            <a:avLst/>
          </a:prstGeom>
        </p:spPr>
      </p:pic>
      <p:pic>
        <p:nvPicPr>
          <p:cNvPr id="11" name="Picture 10">
            <a:extLst>
              <a:ext uri="{FF2B5EF4-FFF2-40B4-BE49-F238E27FC236}">
                <a16:creationId xmlns:a16="http://schemas.microsoft.com/office/drawing/2014/main" id="{36A6F521-E70A-5141-4D8C-74CDB67C63D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96932" y="0"/>
            <a:ext cx="1782000" cy="1188000"/>
          </a:xfrm>
          <a:prstGeom prst="rect">
            <a:avLst/>
          </a:prstGeom>
        </p:spPr>
      </p:pic>
    </p:spTree>
    <p:extLst>
      <p:ext uri="{BB962C8B-B14F-4D97-AF65-F5344CB8AC3E}">
        <p14:creationId xmlns:p14="http://schemas.microsoft.com/office/powerpoint/2010/main" val="2678430887"/>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34FA3A-0584-E3D3-5809-0775838C30DB}"/>
              </a:ext>
            </a:extLst>
          </p:cNvPr>
          <p:cNvSpPr>
            <a:spLocks noGrp="1"/>
          </p:cNvSpPr>
          <p:nvPr>
            <p:ph type="title"/>
          </p:nvPr>
        </p:nvSpPr>
        <p:spPr/>
        <p:txBody>
          <a:bodyPr/>
          <a:lstStyle/>
          <a:p>
            <a:r>
              <a:rPr lang="en-IN" dirty="0">
                <a:effectLst>
                  <a:outerShdw blurRad="38100" dist="38100" dir="2700000" algn="tl">
                    <a:srgbClr val="000000">
                      <a:alpha val="43137"/>
                    </a:srgbClr>
                  </a:outerShdw>
                </a:effectLst>
                <a:latin typeface="Rockwell" panose="02060603020205020403" pitchFamily="18" charset="0"/>
              </a:rPr>
              <a:t>Languages for developing blockchain technology</a:t>
            </a:r>
          </a:p>
        </p:txBody>
      </p:sp>
      <p:pic>
        <p:nvPicPr>
          <p:cNvPr id="9" name="Picture 8">
            <a:extLst>
              <a:ext uri="{FF2B5EF4-FFF2-40B4-BE49-F238E27FC236}">
                <a16:creationId xmlns:a16="http://schemas.microsoft.com/office/drawing/2014/main" id="{A2E6E3D5-4F62-BF0F-F581-E62FA921AD5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6069" y="2097619"/>
            <a:ext cx="1785600" cy="1785600"/>
          </a:xfrm>
          <a:prstGeom prst="rect">
            <a:avLst/>
          </a:prstGeom>
        </p:spPr>
      </p:pic>
      <p:pic>
        <p:nvPicPr>
          <p:cNvPr id="11" name="Picture 10">
            <a:extLst>
              <a:ext uri="{FF2B5EF4-FFF2-40B4-BE49-F238E27FC236}">
                <a16:creationId xmlns:a16="http://schemas.microsoft.com/office/drawing/2014/main" id="{B7AFBE2B-BB62-8B5C-C763-8E49EDF01A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03200" y="2097619"/>
            <a:ext cx="1785600" cy="1785600"/>
          </a:xfrm>
          <a:prstGeom prst="rect">
            <a:avLst/>
          </a:prstGeom>
        </p:spPr>
      </p:pic>
      <p:pic>
        <p:nvPicPr>
          <p:cNvPr id="13" name="Picture 12">
            <a:extLst>
              <a:ext uri="{FF2B5EF4-FFF2-40B4-BE49-F238E27FC236}">
                <a16:creationId xmlns:a16="http://schemas.microsoft.com/office/drawing/2014/main" id="{1C37CA8B-9FDB-CADC-E6F6-83ECD492E7E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361566" y="2097619"/>
            <a:ext cx="1785600" cy="1785600"/>
          </a:xfrm>
          <a:prstGeom prst="rect">
            <a:avLst/>
          </a:prstGeom>
        </p:spPr>
      </p:pic>
      <p:sp>
        <p:nvSpPr>
          <p:cNvPr id="14" name="TextBox 13">
            <a:extLst>
              <a:ext uri="{FF2B5EF4-FFF2-40B4-BE49-F238E27FC236}">
                <a16:creationId xmlns:a16="http://schemas.microsoft.com/office/drawing/2014/main" id="{F1B4A7AB-78ED-8A59-070B-E740718BFAAE}"/>
              </a:ext>
            </a:extLst>
          </p:cNvPr>
          <p:cNvSpPr txBox="1"/>
          <p:nvPr/>
        </p:nvSpPr>
        <p:spPr>
          <a:xfrm>
            <a:off x="546069" y="3988584"/>
            <a:ext cx="2683510" cy="1754326"/>
          </a:xfrm>
          <a:prstGeom prst="rect">
            <a:avLst/>
          </a:prstGeom>
          <a:noFill/>
        </p:spPr>
        <p:txBody>
          <a:bodyPr wrap="square" lIns="91440" tIns="45720" rIns="91440" bIns="45720" anchor="t">
            <a:spAutoFit/>
          </a:bodyPr>
          <a:lstStyle/>
          <a:p>
            <a:r>
              <a:rPr lang="en-US" b="1" dirty="0">
                <a:solidFill>
                  <a:schemeClr val="tx1">
                    <a:lumMod val="95000"/>
                    <a:lumOff val="5000"/>
                  </a:schemeClr>
                </a:solidFill>
                <a:latin typeface="Rockwell" panose="02060603020205020403" pitchFamily="18" charset="0"/>
              </a:rPr>
              <a:t>Solidity</a:t>
            </a:r>
            <a:r>
              <a:rPr lang="en-US" dirty="0">
                <a:latin typeface="Rockwell" panose="02060603020205020403" pitchFamily="18" charset="0"/>
              </a:rPr>
              <a:t> is a high-level programming language that is specifically designed for </a:t>
            </a:r>
            <a:r>
              <a:rPr lang="en-US" b="1" dirty="0">
                <a:latin typeface="Rockwell" panose="02060603020205020403" pitchFamily="18" charset="0"/>
              </a:rPr>
              <a:t>writing smart contracts </a:t>
            </a:r>
            <a:r>
              <a:rPr lang="en-US" dirty="0">
                <a:latin typeface="Rockwell" panose="02060603020205020403" pitchFamily="18" charset="0"/>
              </a:rPr>
              <a:t>on the Ethereum blockchain.</a:t>
            </a:r>
            <a:endParaRPr lang="en-IN" dirty="0">
              <a:latin typeface="Rockwell" panose="02060603020205020403" pitchFamily="18" charset="0"/>
            </a:endParaRPr>
          </a:p>
        </p:txBody>
      </p:sp>
      <p:sp>
        <p:nvSpPr>
          <p:cNvPr id="15" name="TextBox 14">
            <a:extLst>
              <a:ext uri="{FF2B5EF4-FFF2-40B4-BE49-F238E27FC236}">
                <a16:creationId xmlns:a16="http://schemas.microsoft.com/office/drawing/2014/main" id="{81DE64F5-5DEF-111A-2635-CE352785418B}"/>
              </a:ext>
            </a:extLst>
          </p:cNvPr>
          <p:cNvSpPr txBox="1"/>
          <p:nvPr/>
        </p:nvSpPr>
        <p:spPr>
          <a:xfrm>
            <a:off x="5120640" y="3988584"/>
            <a:ext cx="3253750" cy="2031325"/>
          </a:xfrm>
          <a:prstGeom prst="rect">
            <a:avLst/>
          </a:prstGeom>
          <a:noFill/>
        </p:spPr>
        <p:txBody>
          <a:bodyPr wrap="square" lIns="91440" tIns="45720" rIns="91440" bIns="45720" anchor="t">
            <a:spAutoFit/>
          </a:bodyPr>
          <a:lstStyle/>
          <a:p>
            <a:r>
              <a:rPr lang="en-US" b="1" dirty="0">
                <a:solidFill>
                  <a:srgbClr val="00B0F0"/>
                </a:solidFill>
                <a:latin typeface="Rockwell" panose="02060603020205020403" pitchFamily="18" charset="0"/>
              </a:rPr>
              <a:t>Go</a:t>
            </a:r>
            <a:r>
              <a:rPr lang="en-US" dirty="0">
                <a:latin typeface="Rockwell" panose="02060603020205020403" pitchFamily="18" charset="0"/>
              </a:rPr>
              <a:t> is a popular programming language known for its </a:t>
            </a:r>
            <a:r>
              <a:rPr lang="en-US" b="1" dirty="0">
                <a:latin typeface="Rockwell" panose="02060603020205020403" pitchFamily="18" charset="0"/>
              </a:rPr>
              <a:t>simplicity and efficiency</a:t>
            </a:r>
            <a:r>
              <a:rPr lang="en-US" dirty="0">
                <a:latin typeface="Rockwell" panose="02060603020205020403" pitchFamily="18" charset="0"/>
              </a:rPr>
              <a:t>. It’s commonly used for </a:t>
            </a:r>
            <a:r>
              <a:rPr lang="en-US" b="1" dirty="0">
                <a:latin typeface="Rockwell" panose="02060603020205020403" pitchFamily="18" charset="0"/>
              </a:rPr>
              <a:t>building scalable &amp; high-performance </a:t>
            </a:r>
            <a:r>
              <a:rPr lang="en-US" dirty="0">
                <a:latin typeface="Rockwell" panose="02060603020205020403" pitchFamily="18" charset="0"/>
              </a:rPr>
              <a:t>blockchain applications</a:t>
            </a:r>
            <a:endParaRPr lang="en-IN" dirty="0">
              <a:latin typeface="Rockwell" panose="02060603020205020403" pitchFamily="18" charset="0"/>
            </a:endParaRPr>
          </a:p>
        </p:txBody>
      </p:sp>
      <p:sp>
        <p:nvSpPr>
          <p:cNvPr id="16" name="TextBox 15">
            <a:extLst>
              <a:ext uri="{FF2B5EF4-FFF2-40B4-BE49-F238E27FC236}">
                <a16:creationId xmlns:a16="http://schemas.microsoft.com/office/drawing/2014/main" id="{81FA5B3E-C589-E82E-51AF-7F5CFDAC8C90}"/>
              </a:ext>
            </a:extLst>
          </p:cNvPr>
          <p:cNvSpPr txBox="1"/>
          <p:nvPr/>
        </p:nvSpPr>
        <p:spPr>
          <a:xfrm>
            <a:off x="8727440" y="3988584"/>
            <a:ext cx="3464560" cy="2031325"/>
          </a:xfrm>
          <a:prstGeom prst="rect">
            <a:avLst/>
          </a:prstGeom>
          <a:noFill/>
        </p:spPr>
        <p:txBody>
          <a:bodyPr wrap="square" lIns="91440" tIns="45720" rIns="91440" bIns="45720" anchor="t">
            <a:spAutoFit/>
          </a:bodyPr>
          <a:lstStyle/>
          <a:p>
            <a:r>
              <a:rPr lang="en-US" b="1" dirty="0">
                <a:solidFill>
                  <a:srgbClr val="C00000"/>
                </a:solidFill>
                <a:latin typeface="Rockwell" panose="02060603020205020403" pitchFamily="18" charset="0"/>
              </a:rPr>
              <a:t>Java</a:t>
            </a:r>
            <a:r>
              <a:rPr lang="en-US" dirty="0">
                <a:latin typeface="Rockwell" panose="02060603020205020403" pitchFamily="18" charset="0"/>
              </a:rPr>
              <a:t> is a widely-used programming language known for its </a:t>
            </a:r>
            <a:r>
              <a:rPr lang="en-US" b="1" dirty="0">
                <a:latin typeface="Rockwell" panose="02060603020205020403" pitchFamily="18" charset="0"/>
              </a:rPr>
              <a:t>security features &amp; cross-platform </a:t>
            </a:r>
            <a:r>
              <a:rPr lang="en-US" dirty="0">
                <a:latin typeface="Rockwell" panose="02060603020205020403" pitchFamily="18" charset="0"/>
              </a:rPr>
              <a:t>compatibility. It’s often used for </a:t>
            </a:r>
            <a:r>
              <a:rPr lang="en-US" b="1" dirty="0">
                <a:latin typeface="Rockwell" panose="02060603020205020403" pitchFamily="18" charset="0"/>
              </a:rPr>
              <a:t>building enterprise-grade </a:t>
            </a:r>
            <a:r>
              <a:rPr lang="en-US" dirty="0">
                <a:latin typeface="Rockwell" panose="02060603020205020403" pitchFamily="18" charset="0"/>
              </a:rPr>
              <a:t>blockchain applications.</a:t>
            </a:r>
            <a:endParaRPr lang="en-IN" dirty="0">
              <a:latin typeface="Rockwell" panose="02060603020205020403" pitchFamily="18" charset="0"/>
            </a:endParaRPr>
          </a:p>
        </p:txBody>
      </p:sp>
      <p:pic>
        <p:nvPicPr>
          <p:cNvPr id="17" name="Picture 16">
            <a:extLst>
              <a:ext uri="{FF2B5EF4-FFF2-40B4-BE49-F238E27FC236}">
                <a16:creationId xmlns:a16="http://schemas.microsoft.com/office/drawing/2014/main" id="{0DF046A3-7C91-0210-A199-10F03B0323C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796932" y="-50800"/>
            <a:ext cx="1782000" cy="1188000"/>
          </a:xfrm>
          <a:prstGeom prst="rect">
            <a:avLst/>
          </a:prstGeom>
        </p:spPr>
      </p:pic>
    </p:spTree>
    <p:extLst>
      <p:ext uri="{BB962C8B-B14F-4D97-AF65-F5344CB8AC3E}">
        <p14:creationId xmlns:p14="http://schemas.microsoft.com/office/powerpoint/2010/main" val="1552022226"/>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3D19AC6-4F57-0D7B-D30C-894BABB0EA5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8507" y="972147"/>
            <a:ext cx="1785600" cy="1785600"/>
          </a:xfrm>
          <a:prstGeom prst="rect">
            <a:avLst/>
          </a:prstGeom>
        </p:spPr>
      </p:pic>
      <p:sp>
        <p:nvSpPr>
          <p:cNvPr id="9" name="TextBox 8">
            <a:extLst>
              <a:ext uri="{FF2B5EF4-FFF2-40B4-BE49-F238E27FC236}">
                <a16:creationId xmlns:a16="http://schemas.microsoft.com/office/drawing/2014/main" id="{BD44D7FF-998A-12EF-5BA6-E26512429E44}"/>
              </a:ext>
            </a:extLst>
          </p:cNvPr>
          <p:cNvSpPr txBox="1"/>
          <p:nvPr/>
        </p:nvSpPr>
        <p:spPr>
          <a:xfrm>
            <a:off x="794000" y="2967335"/>
            <a:ext cx="2802293" cy="1754326"/>
          </a:xfrm>
          <a:prstGeom prst="rect">
            <a:avLst/>
          </a:prstGeom>
          <a:noFill/>
        </p:spPr>
        <p:txBody>
          <a:bodyPr wrap="square">
            <a:spAutoFit/>
          </a:bodyPr>
          <a:lstStyle/>
          <a:p>
            <a:r>
              <a:rPr lang="en-US" b="1" dirty="0">
                <a:solidFill>
                  <a:srgbClr val="002060"/>
                </a:solidFill>
                <a:latin typeface="Rockwell" panose="02060603020205020403" pitchFamily="18" charset="0"/>
              </a:rPr>
              <a:t>Python</a:t>
            </a:r>
            <a:r>
              <a:rPr lang="en-US" dirty="0">
                <a:latin typeface="Rockwell" panose="02060603020205020403" pitchFamily="18" charset="0"/>
              </a:rPr>
              <a:t> is a versatile programming language that is widely used for </a:t>
            </a:r>
            <a:r>
              <a:rPr lang="en-US" b="1" dirty="0">
                <a:latin typeface="Rockwell" panose="02060603020205020403" pitchFamily="18" charset="0"/>
              </a:rPr>
              <a:t>building a variety of applications</a:t>
            </a:r>
            <a:r>
              <a:rPr lang="en-US" dirty="0">
                <a:latin typeface="Rockwell" panose="02060603020205020403" pitchFamily="18" charset="0"/>
              </a:rPr>
              <a:t>, including blockchain applications.</a:t>
            </a:r>
            <a:endParaRPr lang="en-IN" dirty="0">
              <a:latin typeface="Rockwell" panose="02060603020205020403" pitchFamily="18" charset="0"/>
            </a:endParaRPr>
          </a:p>
        </p:txBody>
      </p:sp>
      <p:pic>
        <p:nvPicPr>
          <p:cNvPr id="11" name="Picture 10">
            <a:extLst>
              <a:ext uri="{FF2B5EF4-FFF2-40B4-BE49-F238E27FC236}">
                <a16:creationId xmlns:a16="http://schemas.microsoft.com/office/drawing/2014/main" id="{CB63CC35-A8BC-0488-ADFF-E5E2B387501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21746" y="972147"/>
            <a:ext cx="1548508" cy="1785600"/>
          </a:xfrm>
          <a:prstGeom prst="rect">
            <a:avLst/>
          </a:prstGeom>
        </p:spPr>
      </p:pic>
      <p:sp>
        <p:nvSpPr>
          <p:cNvPr id="13" name="TextBox 12">
            <a:extLst>
              <a:ext uri="{FF2B5EF4-FFF2-40B4-BE49-F238E27FC236}">
                <a16:creationId xmlns:a16="http://schemas.microsoft.com/office/drawing/2014/main" id="{6DC88F1A-63AF-D95C-380B-4CEC3F097633}"/>
              </a:ext>
            </a:extLst>
          </p:cNvPr>
          <p:cNvSpPr txBox="1"/>
          <p:nvPr/>
        </p:nvSpPr>
        <p:spPr>
          <a:xfrm>
            <a:off x="5007832" y="2967335"/>
            <a:ext cx="3201448" cy="1477328"/>
          </a:xfrm>
          <a:prstGeom prst="rect">
            <a:avLst/>
          </a:prstGeom>
          <a:noFill/>
        </p:spPr>
        <p:txBody>
          <a:bodyPr wrap="square">
            <a:spAutoFit/>
          </a:bodyPr>
          <a:lstStyle/>
          <a:p>
            <a:r>
              <a:rPr lang="en-US" b="1" dirty="0">
                <a:solidFill>
                  <a:srgbClr val="0070C0"/>
                </a:solidFill>
                <a:latin typeface="Rockwell" panose="02060603020205020403" pitchFamily="18" charset="0"/>
              </a:rPr>
              <a:t>C++ </a:t>
            </a:r>
            <a:r>
              <a:rPr lang="en-US" dirty="0">
                <a:latin typeface="Rockwell" panose="02060603020205020403" pitchFamily="18" charset="0"/>
              </a:rPr>
              <a:t>is a powerful programming language that is commonly used for building </a:t>
            </a:r>
            <a:r>
              <a:rPr lang="en-US" b="1" dirty="0">
                <a:latin typeface="Rockwell" panose="02060603020205020403" pitchFamily="18" charset="0"/>
              </a:rPr>
              <a:t>high-performance</a:t>
            </a:r>
            <a:r>
              <a:rPr lang="en-US" dirty="0">
                <a:latin typeface="Rockwell" panose="02060603020205020403" pitchFamily="18" charset="0"/>
              </a:rPr>
              <a:t> blockchain applications.</a:t>
            </a:r>
            <a:endParaRPr lang="en-IN" dirty="0">
              <a:latin typeface="Rockwell" panose="02060603020205020403" pitchFamily="18" charset="0"/>
            </a:endParaRPr>
          </a:p>
        </p:txBody>
      </p:sp>
      <p:pic>
        <p:nvPicPr>
          <p:cNvPr id="15" name="Picture 14">
            <a:extLst>
              <a:ext uri="{FF2B5EF4-FFF2-40B4-BE49-F238E27FC236}">
                <a16:creationId xmlns:a16="http://schemas.microsoft.com/office/drawing/2014/main" id="{F00B97A2-7D59-2C98-4430-416CB74A6D6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347893" y="972147"/>
            <a:ext cx="1785600" cy="1785600"/>
          </a:xfrm>
          <a:prstGeom prst="rect">
            <a:avLst/>
          </a:prstGeom>
        </p:spPr>
      </p:pic>
      <p:sp>
        <p:nvSpPr>
          <p:cNvPr id="18" name="TextBox 17">
            <a:extLst>
              <a:ext uri="{FF2B5EF4-FFF2-40B4-BE49-F238E27FC236}">
                <a16:creationId xmlns:a16="http://schemas.microsoft.com/office/drawing/2014/main" id="{63DE119D-0879-4261-A316-3141D40E86C9}"/>
              </a:ext>
            </a:extLst>
          </p:cNvPr>
          <p:cNvSpPr txBox="1"/>
          <p:nvPr/>
        </p:nvSpPr>
        <p:spPr>
          <a:xfrm>
            <a:off x="9001760" y="2967335"/>
            <a:ext cx="3058160" cy="2308324"/>
          </a:xfrm>
          <a:prstGeom prst="rect">
            <a:avLst/>
          </a:prstGeom>
          <a:noFill/>
        </p:spPr>
        <p:txBody>
          <a:bodyPr wrap="square">
            <a:spAutoFit/>
          </a:bodyPr>
          <a:lstStyle/>
          <a:p>
            <a:r>
              <a:rPr lang="en-US" b="1" i="0" dirty="0">
                <a:solidFill>
                  <a:srgbClr val="10162F"/>
                </a:solidFill>
                <a:effectLst/>
                <a:latin typeface="Rockwell" panose="02060603020205020403" pitchFamily="18" charset="0"/>
              </a:rPr>
              <a:t>Rust</a:t>
            </a:r>
            <a:r>
              <a:rPr lang="en-US" b="0" i="0" dirty="0">
                <a:solidFill>
                  <a:srgbClr val="10162F"/>
                </a:solidFill>
                <a:effectLst/>
                <a:latin typeface="Rockwell" panose="02060603020205020403" pitchFamily="18" charset="0"/>
              </a:rPr>
              <a:t> is consistently ranked the most-loved programming language. it’s </a:t>
            </a:r>
            <a:r>
              <a:rPr lang="en-US" b="1" i="0" dirty="0">
                <a:solidFill>
                  <a:srgbClr val="10162F"/>
                </a:solidFill>
                <a:effectLst/>
                <a:latin typeface="Rockwell" panose="02060603020205020403" pitchFamily="18" charset="0"/>
              </a:rPr>
              <a:t>type- and memory-safe</a:t>
            </a:r>
            <a:r>
              <a:rPr lang="en-US" b="0" i="0" dirty="0">
                <a:solidFill>
                  <a:srgbClr val="10162F"/>
                </a:solidFill>
                <a:effectLst/>
                <a:latin typeface="Rockwell" panose="02060603020205020403" pitchFamily="18" charset="0"/>
              </a:rPr>
              <a:t>, and those safety features Rust is used to build </a:t>
            </a:r>
            <a:r>
              <a:rPr lang="en-US" b="1" i="0" dirty="0">
                <a:solidFill>
                  <a:srgbClr val="10162F"/>
                </a:solidFill>
                <a:effectLst/>
                <a:latin typeface="Rockwell" panose="02060603020205020403" pitchFamily="18" charset="0"/>
              </a:rPr>
              <a:t>smart contracts</a:t>
            </a:r>
            <a:r>
              <a:rPr lang="en-US" b="0" i="0" dirty="0">
                <a:solidFill>
                  <a:srgbClr val="10162F"/>
                </a:solidFill>
                <a:effectLst/>
                <a:latin typeface="Rockwell" panose="02060603020205020403" pitchFamily="18" charset="0"/>
              </a:rPr>
              <a:t> on chains.</a:t>
            </a:r>
            <a:endParaRPr lang="en-IN" dirty="0">
              <a:latin typeface="Rockwell" panose="02060603020205020403" pitchFamily="18" charset="0"/>
            </a:endParaRPr>
          </a:p>
        </p:txBody>
      </p:sp>
      <p:pic>
        <p:nvPicPr>
          <p:cNvPr id="19" name="Picture 18">
            <a:extLst>
              <a:ext uri="{FF2B5EF4-FFF2-40B4-BE49-F238E27FC236}">
                <a16:creationId xmlns:a16="http://schemas.microsoft.com/office/drawing/2014/main" id="{4E85A201-0DB8-EBC5-C9B4-25B2059B8BA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796932" y="-50800"/>
            <a:ext cx="1782000" cy="1188000"/>
          </a:xfrm>
          <a:prstGeom prst="rect">
            <a:avLst/>
          </a:prstGeom>
        </p:spPr>
      </p:pic>
    </p:spTree>
    <p:extLst>
      <p:ext uri="{BB962C8B-B14F-4D97-AF65-F5344CB8AC3E}">
        <p14:creationId xmlns:p14="http://schemas.microsoft.com/office/powerpoint/2010/main" val="1683439529"/>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2BB060-2162-D1E6-3F09-19F7B30F3315}"/>
              </a:ext>
            </a:extLst>
          </p:cNvPr>
          <p:cNvSpPr>
            <a:spLocks noGrp="1"/>
          </p:cNvSpPr>
          <p:nvPr>
            <p:ph type="title"/>
          </p:nvPr>
        </p:nvSpPr>
        <p:spPr>
          <a:xfrm>
            <a:off x="1459130" y="1089199"/>
            <a:ext cx="9603275" cy="1049235"/>
          </a:xfrm>
        </p:spPr>
        <p:txBody>
          <a:bodyPr>
            <a:normAutofit/>
          </a:bodyPr>
          <a:lstStyle/>
          <a:p>
            <a:r>
              <a:rPr lang="en-IN" dirty="0">
                <a:effectLst>
                  <a:outerShdw blurRad="38100" dist="38100" dir="2700000" algn="tl">
                    <a:srgbClr val="000000">
                      <a:alpha val="43137"/>
                    </a:srgbClr>
                  </a:outerShdw>
                </a:effectLst>
                <a:latin typeface="Rockwell" panose="02060603020205020403" pitchFamily="18" charset="0"/>
              </a:rPr>
              <a:t>Blockchain development life cycle</a:t>
            </a:r>
          </a:p>
        </p:txBody>
      </p:sp>
      <p:grpSp>
        <p:nvGrpSpPr>
          <p:cNvPr id="36" name="Group 9">
            <a:extLst>
              <a:ext uri="{FF2B5EF4-FFF2-40B4-BE49-F238E27FC236}">
                <a16:creationId xmlns:a16="http://schemas.microsoft.com/office/drawing/2014/main" id="{F2C08210-135F-434B-9B07-F3B4978C6C2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59130" y="2012810"/>
            <a:ext cx="4954206" cy="3453535"/>
            <a:chOff x="7807230" y="2012810"/>
            <a:chExt cx="3251252" cy="3459865"/>
          </a:xfrm>
        </p:grpSpPr>
        <p:sp>
          <p:nvSpPr>
            <p:cNvPr id="11" name="Rectangle 10">
              <a:extLst>
                <a:ext uri="{FF2B5EF4-FFF2-40B4-BE49-F238E27FC236}">
                  <a16:creationId xmlns:a16="http://schemas.microsoft.com/office/drawing/2014/main" id="{F67A18BA-FBAA-4972-B2EE-86107FA7F0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07230" y="2012810"/>
              <a:ext cx="3251252" cy="3459865"/>
            </a:xfrm>
            <a:prstGeom prst="rect">
              <a:avLst/>
            </a:prstGeom>
            <a:gradFill>
              <a:gsLst>
                <a:gs pos="0">
                  <a:srgbClr val="000001"/>
                </a:gs>
                <a:gs pos="100000">
                  <a:srgbClr val="191919"/>
                </a:gs>
              </a:gsLst>
            </a:gradFill>
            <a:ln w="76200" cmpd="sng">
              <a:noFill/>
              <a:miter lim="800000"/>
            </a:ln>
            <a:effectLst>
              <a:outerShdw blurRad="127000" dist="1905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 name="Rectangle 11">
              <a:extLst>
                <a:ext uri="{FF2B5EF4-FFF2-40B4-BE49-F238E27FC236}">
                  <a16:creationId xmlns:a16="http://schemas.microsoft.com/office/drawing/2014/main" id="{8776751E-B197-4182-95E7-62121266B0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07231" y="2026142"/>
              <a:ext cx="3251250" cy="3440203"/>
            </a:xfrm>
            <a:prstGeom prst="rect">
              <a:avLst/>
            </a:prstGeom>
            <a:solidFill>
              <a:schemeClr val="bg1"/>
            </a:solidFill>
            <a:ln w="762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w="38100" h="38100" prst="relaxedInse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id="{74E85A96-C657-73EB-517B-64EEC835A073}"/>
              </a:ext>
            </a:extLst>
          </p:cNvPr>
          <p:cNvSpPr>
            <a:spLocks noGrp="1"/>
          </p:cNvSpPr>
          <p:nvPr>
            <p:ph idx="1"/>
          </p:nvPr>
        </p:nvSpPr>
        <p:spPr>
          <a:xfrm>
            <a:off x="6852537" y="2012810"/>
            <a:ext cx="4729863" cy="3633226"/>
          </a:xfrm>
        </p:spPr>
        <p:txBody>
          <a:bodyPr>
            <a:noAutofit/>
          </a:bodyPr>
          <a:lstStyle/>
          <a:p>
            <a:pPr>
              <a:lnSpc>
                <a:spcPct val="110000"/>
              </a:lnSpc>
            </a:pPr>
            <a:r>
              <a:rPr lang="en-US" sz="1600" b="0" i="0" dirty="0">
                <a:effectLst/>
                <a:latin typeface="Rockwell" panose="02060603020205020403" pitchFamily="18" charset="0"/>
              </a:rPr>
              <a:t>Identify the problem and goal</a:t>
            </a:r>
          </a:p>
          <a:p>
            <a:pPr>
              <a:lnSpc>
                <a:spcPct val="110000"/>
              </a:lnSpc>
            </a:pPr>
            <a:r>
              <a:rPr lang="en-US" sz="1600" b="0" i="0" dirty="0">
                <a:effectLst/>
                <a:latin typeface="Rockwell" panose="02060603020205020403" pitchFamily="18" charset="0"/>
              </a:rPr>
              <a:t>Identify the Most Suitable Consensus Mechanism</a:t>
            </a:r>
          </a:p>
          <a:p>
            <a:pPr>
              <a:lnSpc>
                <a:spcPct val="110000"/>
              </a:lnSpc>
            </a:pPr>
            <a:r>
              <a:rPr lang="en-US" sz="1600" b="0" i="0" u="none" strike="noStrike" dirty="0">
                <a:effectLst/>
                <a:latin typeface="Rockwell" panose="02060603020205020403" pitchFamily="18" charset="0"/>
              </a:rPr>
              <a:t>Identify the most important platform</a:t>
            </a:r>
          </a:p>
          <a:p>
            <a:pPr>
              <a:lnSpc>
                <a:spcPct val="110000"/>
              </a:lnSpc>
            </a:pPr>
            <a:r>
              <a:rPr lang="en-IN" sz="1600" b="0" i="0" u="none" strike="noStrike" dirty="0">
                <a:effectLst/>
                <a:latin typeface="Rockwell" panose="02060603020205020403" pitchFamily="18" charset="0"/>
              </a:rPr>
              <a:t>Designing the architecture</a:t>
            </a:r>
          </a:p>
          <a:p>
            <a:pPr>
              <a:lnSpc>
                <a:spcPct val="110000"/>
              </a:lnSpc>
            </a:pPr>
            <a:r>
              <a:rPr lang="en-IN" sz="1600" b="0" i="0" u="none" strike="noStrike" dirty="0">
                <a:effectLst/>
                <a:latin typeface="Rockwell" panose="02060603020205020403" pitchFamily="18" charset="0"/>
              </a:rPr>
              <a:t>Configuring the Application</a:t>
            </a:r>
          </a:p>
          <a:p>
            <a:pPr>
              <a:lnSpc>
                <a:spcPct val="110000"/>
              </a:lnSpc>
            </a:pPr>
            <a:r>
              <a:rPr lang="en-IN" sz="1600" b="0" i="0" u="none" strike="noStrike" dirty="0">
                <a:effectLst/>
                <a:latin typeface="Rockwell" panose="02060603020205020403" pitchFamily="18" charset="0"/>
              </a:rPr>
              <a:t>Building the APIs</a:t>
            </a:r>
          </a:p>
          <a:p>
            <a:pPr>
              <a:lnSpc>
                <a:spcPct val="110000"/>
              </a:lnSpc>
            </a:pPr>
            <a:r>
              <a:rPr lang="en-US" sz="1600" b="0" i="0" u="none" strike="noStrike" dirty="0">
                <a:effectLst/>
                <a:latin typeface="Rockwell" panose="02060603020205020403" pitchFamily="18" charset="0"/>
              </a:rPr>
              <a:t>Design the admin and User Interface</a:t>
            </a:r>
          </a:p>
          <a:p>
            <a:pPr>
              <a:lnSpc>
                <a:spcPct val="110000"/>
              </a:lnSpc>
            </a:pPr>
            <a:r>
              <a:rPr lang="en-US" sz="1600" b="0" i="0" u="none" strike="noStrike" dirty="0">
                <a:effectLst/>
                <a:latin typeface="Rockwell" panose="02060603020205020403" pitchFamily="18" charset="0"/>
              </a:rPr>
              <a:t>Scaling the POC and Identifying problems</a:t>
            </a:r>
          </a:p>
          <a:p>
            <a:pPr>
              <a:lnSpc>
                <a:spcPct val="110000"/>
              </a:lnSpc>
            </a:pPr>
            <a:endParaRPr lang="en-US" sz="1600" b="0" i="0" dirty="0">
              <a:effectLst/>
              <a:latin typeface="Rockwell" panose="02060603020205020403" pitchFamily="18" charset="0"/>
            </a:endParaRPr>
          </a:p>
        </p:txBody>
      </p:sp>
      <p:pic>
        <p:nvPicPr>
          <p:cNvPr id="9" name="Picture 8">
            <a:extLst>
              <a:ext uri="{FF2B5EF4-FFF2-40B4-BE49-F238E27FC236}">
                <a16:creationId xmlns:a16="http://schemas.microsoft.com/office/drawing/2014/main" id="{86E885C8-EFAF-C039-3804-CFA44CFA14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64640" y="2138433"/>
            <a:ext cx="4801608" cy="3246367"/>
          </a:xfrm>
          <a:prstGeom prst="rect">
            <a:avLst/>
          </a:prstGeom>
        </p:spPr>
      </p:pic>
      <p:pic>
        <p:nvPicPr>
          <p:cNvPr id="13" name="Picture 12">
            <a:extLst>
              <a:ext uri="{FF2B5EF4-FFF2-40B4-BE49-F238E27FC236}">
                <a16:creationId xmlns:a16="http://schemas.microsoft.com/office/drawing/2014/main" id="{AF92EF8C-8EC6-2E3C-7526-DE4C91E3490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96932" y="-50800"/>
            <a:ext cx="1782000" cy="1188000"/>
          </a:xfrm>
          <a:prstGeom prst="rect">
            <a:avLst/>
          </a:prstGeom>
        </p:spPr>
      </p:pic>
    </p:spTree>
    <p:extLst>
      <p:ext uri="{BB962C8B-B14F-4D97-AF65-F5344CB8AC3E}">
        <p14:creationId xmlns:p14="http://schemas.microsoft.com/office/powerpoint/2010/main" val="1664741539"/>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D0BD4F-C02A-4556-9DB0-CBAAAC7D9CE0}"/>
              </a:ext>
            </a:extLst>
          </p:cNvPr>
          <p:cNvSpPr>
            <a:spLocks noGrp="1"/>
          </p:cNvSpPr>
          <p:nvPr>
            <p:ph type="title"/>
          </p:nvPr>
        </p:nvSpPr>
        <p:spPr>
          <a:xfrm>
            <a:off x="1455206" y="1149959"/>
            <a:ext cx="9603275" cy="1049235"/>
          </a:xfrm>
        </p:spPr>
        <p:txBody>
          <a:bodyPr>
            <a:normAutofit/>
          </a:bodyPr>
          <a:lstStyle/>
          <a:p>
            <a:r>
              <a:rPr lang="en-IN" dirty="0">
                <a:effectLst>
                  <a:outerShdw blurRad="38100" dist="38100" dir="2700000" algn="tl">
                    <a:srgbClr val="000000">
                      <a:alpha val="43137"/>
                    </a:srgbClr>
                  </a:outerShdw>
                </a:effectLst>
                <a:latin typeface="Rockwell" panose="02060603020205020403" pitchFamily="18" charset="0"/>
              </a:rPr>
              <a:t>What does a blockchain engineer do?</a:t>
            </a:r>
          </a:p>
        </p:txBody>
      </p:sp>
      <p:sp>
        <p:nvSpPr>
          <p:cNvPr id="3" name="Content Placeholder 2">
            <a:extLst>
              <a:ext uri="{FF2B5EF4-FFF2-40B4-BE49-F238E27FC236}">
                <a16:creationId xmlns:a16="http://schemas.microsoft.com/office/drawing/2014/main" id="{A9D476D3-F6D0-3961-9082-A889B610442A}"/>
              </a:ext>
            </a:extLst>
          </p:cNvPr>
          <p:cNvSpPr>
            <a:spLocks noGrp="1"/>
          </p:cNvSpPr>
          <p:nvPr>
            <p:ph idx="1"/>
          </p:nvPr>
        </p:nvSpPr>
        <p:spPr>
          <a:xfrm>
            <a:off x="1451579" y="2015734"/>
            <a:ext cx="5435733" cy="3450613"/>
          </a:xfrm>
        </p:spPr>
        <p:txBody>
          <a:bodyPr>
            <a:normAutofit/>
          </a:bodyPr>
          <a:lstStyle/>
          <a:p>
            <a:r>
              <a:rPr lang="en-IN" dirty="0">
                <a:latin typeface="Rockwell" panose="02060603020205020403" pitchFamily="18" charset="0"/>
              </a:rPr>
              <a:t>Designing &amp; Developing Blockchain Solutions</a:t>
            </a:r>
          </a:p>
          <a:p>
            <a:r>
              <a:rPr lang="en-IN" dirty="0">
                <a:latin typeface="Rockwell" panose="02060603020205020403" pitchFamily="18" charset="0"/>
              </a:rPr>
              <a:t>Creating &amp; Managing Blockchain Networks</a:t>
            </a:r>
          </a:p>
          <a:p>
            <a:r>
              <a:rPr lang="en-IN" dirty="0">
                <a:latin typeface="Rockwell" panose="02060603020205020403" pitchFamily="18" charset="0"/>
              </a:rPr>
              <a:t>Writing Smart Contracts</a:t>
            </a:r>
          </a:p>
          <a:p>
            <a:r>
              <a:rPr lang="en-IN" dirty="0">
                <a:latin typeface="Rockwell" panose="02060603020205020403" pitchFamily="18" charset="0"/>
              </a:rPr>
              <a:t>Building Cryptocurrency wallets</a:t>
            </a:r>
          </a:p>
          <a:p>
            <a:r>
              <a:rPr lang="en-IN" dirty="0">
                <a:latin typeface="Rockwell" panose="02060603020205020403" pitchFamily="18" charset="0"/>
              </a:rPr>
              <a:t>Testing &amp; Debugging</a:t>
            </a:r>
          </a:p>
          <a:p>
            <a:r>
              <a:rPr lang="en-IN" dirty="0">
                <a:latin typeface="Rockwell" panose="02060603020205020403" pitchFamily="18" charset="0"/>
              </a:rPr>
              <a:t>Keeping Up with the </a:t>
            </a:r>
            <a:r>
              <a:rPr lang="en-IN" dirty="0" err="1">
                <a:latin typeface="Rockwell" panose="02060603020205020403" pitchFamily="18" charset="0"/>
              </a:rPr>
              <a:t>Lastest</a:t>
            </a:r>
            <a:r>
              <a:rPr lang="en-IN" dirty="0">
                <a:latin typeface="Rockwell" panose="02060603020205020403" pitchFamily="18" charset="0"/>
              </a:rPr>
              <a:t> Developments</a:t>
            </a:r>
          </a:p>
          <a:p>
            <a:pPr marL="0" indent="0">
              <a:buNone/>
            </a:pPr>
            <a:endParaRPr lang="en-IN" dirty="0">
              <a:latin typeface="Rockwell" panose="02060603020205020403" pitchFamily="18" charset="0"/>
            </a:endParaRPr>
          </a:p>
        </p:txBody>
      </p:sp>
      <p:grpSp>
        <p:nvGrpSpPr>
          <p:cNvPr id="17" name="Group 16">
            <a:extLst>
              <a:ext uri="{FF2B5EF4-FFF2-40B4-BE49-F238E27FC236}">
                <a16:creationId xmlns:a16="http://schemas.microsoft.com/office/drawing/2014/main" id="{FEB7DF70-0A31-4A61-9C8B-3333776A15B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390413" y="2012810"/>
            <a:ext cx="3668069" cy="3453535"/>
            <a:chOff x="7807230" y="2012810"/>
            <a:chExt cx="3251252" cy="3459865"/>
          </a:xfrm>
        </p:grpSpPr>
        <p:sp>
          <p:nvSpPr>
            <p:cNvPr id="18" name="Rectangle 17">
              <a:extLst>
                <a:ext uri="{FF2B5EF4-FFF2-40B4-BE49-F238E27FC236}">
                  <a16:creationId xmlns:a16="http://schemas.microsoft.com/office/drawing/2014/main" id="{47926867-8D58-4875-8B76-E87E5BE825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07230" y="2012810"/>
              <a:ext cx="3251252" cy="3459865"/>
            </a:xfrm>
            <a:prstGeom prst="rect">
              <a:avLst/>
            </a:prstGeom>
            <a:gradFill>
              <a:gsLst>
                <a:gs pos="0">
                  <a:srgbClr val="000001"/>
                </a:gs>
                <a:gs pos="100000">
                  <a:srgbClr val="191919"/>
                </a:gs>
              </a:gsLst>
            </a:gradFill>
            <a:ln w="76200" cmpd="sng">
              <a:noFill/>
              <a:miter lim="800000"/>
            </a:ln>
            <a:effectLst>
              <a:outerShdw blurRad="127000" dist="1905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A9F6663C-0F32-4FB9-B549-C2757F49F9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07231" y="2026142"/>
              <a:ext cx="3251250" cy="3440203"/>
            </a:xfrm>
            <a:prstGeom prst="rect">
              <a:avLst/>
            </a:prstGeom>
            <a:gradFill>
              <a:gsLst>
                <a:gs pos="0">
                  <a:srgbClr val="DADADA"/>
                </a:gs>
                <a:gs pos="100000">
                  <a:srgbClr val="FFFFFE"/>
                </a:gs>
              </a:gsLst>
              <a:lin ang="16200000" scaled="0"/>
            </a:gradFill>
            <a:ln w="762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w="38100" h="38100" prst="relaxedInse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5" name="Picture 4">
            <a:extLst>
              <a:ext uri="{FF2B5EF4-FFF2-40B4-BE49-F238E27FC236}">
                <a16:creationId xmlns:a16="http://schemas.microsoft.com/office/drawing/2014/main" id="{8064FB39-AA32-5B2C-7F67-A98AD59A4FCD}"/>
              </a:ext>
            </a:extLst>
          </p:cNvPr>
          <p:cNvPicPr>
            <a:picLocks noChangeAspect="1"/>
          </p:cNvPicPr>
          <p:nvPr/>
        </p:nvPicPr>
        <p:blipFill rotWithShape="1">
          <a:blip r:embed="rId2">
            <a:extLst>
              <a:ext uri="{28A0092B-C50C-407E-A947-70E740481C1C}">
                <a14:useLocalDpi xmlns:a14="http://schemas.microsoft.com/office/drawing/2010/main" val="0"/>
              </a:ext>
            </a:extLst>
          </a:blip>
          <a:srcRect t="3163" r="6" b="3917"/>
          <a:stretch/>
        </p:blipFill>
        <p:spPr>
          <a:xfrm>
            <a:off x="7467600" y="2096684"/>
            <a:ext cx="3505200" cy="3285785"/>
          </a:xfrm>
          <a:prstGeom prst="rect">
            <a:avLst/>
          </a:prstGeom>
        </p:spPr>
      </p:pic>
      <p:pic>
        <p:nvPicPr>
          <p:cNvPr id="6" name="Picture 5">
            <a:extLst>
              <a:ext uri="{FF2B5EF4-FFF2-40B4-BE49-F238E27FC236}">
                <a16:creationId xmlns:a16="http://schemas.microsoft.com/office/drawing/2014/main" id="{EA72005E-9388-6654-6771-7D877975CC8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96932" y="-50800"/>
            <a:ext cx="1782000" cy="1188000"/>
          </a:xfrm>
          <a:prstGeom prst="rect">
            <a:avLst/>
          </a:prstGeom>
        </p:spPr>
      </p:pic>
    </p:spTree>
    <p:extLst>
      <p:ext uri="{BB962C8B-B14F-4D97-AF65-F5344CB8AC3E}">
        <p14:creationId xmlns:p14="http://schemas.microsoft.com/office/powerpoint/2010/main" val="120189194"/>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0C3B5B-B785-D3E6-5FBF-BE7B1CD39E56}"/>
              </a:ext>
            </a:extLst>
          </p:cNvPr>
          <p:cNvSpPr>
            <a:spLocks noGrp="1"/>
          </p:cNvSpPr>
          <p:nvPr>
            <p:ph type="title"/>
          </p:nvPr>
        </p:nvSpPr>
        <p:spPr>
          <a:xfrm>
            <a:off x="1451579" y="804519"/>
            <a:ext cx="9603275" cy="1049235"/>
          </a:xfrm>
        </p:spPr>
        <p:txBody>
          <a:bodyPr>
            <a:normAutofit/>
          </a:bodyPr>
          <a:lstStyle/>
          <a:p>
            <a:r>
              <a:rPr lang="en-US" b="0" i="0" dirty="0">
                <a:effectLst>
                  <a:outerShdw blurRad="38100" dist="38100" dir="2700000" algn="tl">
                    <a:srgbClr val="000000">
                      <a:alpha val="43137"/>
                    </a:srgbClr>
                  </a:outerShdw>
                </a:effectLst>
                <a:latin typeface="Rockwell" panose="02060603020205020403" pitchFamily="18" charset="0"/>
              </a:rPr>
              <a:t>blockchain technology in industrial sector</a:t>
            </a:r>
            <a:endParaRPr lang="en-IN" dirty="0">
              <a:effectLst>
                <a:outerShdw blurRad="38100" dist="38100" dir="2700000" algn="tl">
                  <a:srgbClr val="000000">
                    <a:alpha val="43137"/>
                  </a:srgbClr>
                </a:outerShdw>
              </a:effectLst>
              <a:latin typeface="Rockwell" panose="02060603020205020403" pitchFamily="18" charset="0"/>
            </a:endParaRPr>
          </a:p>
        </p:txBody>
      </p:sp>
      <p:sp>
        <p:nvSpPr>
          <p:cNvPr id="3" name="Content Placeholder 2">
            <a:extLst>
              <a:ext uri="{FF2B5EF4-FFF2-40B4-BE49-F238E27FC236}">
                <a16:creationId xmlns:a16="http://schemas.microsoft.com/office/drawing/2014/main" id="{DD1B0978-C33B-CF55-E9E1-8F2F395BE39B}"/>
              </a:ext>
            </a:extLst>
          </p:cNvPr>
          <p:cNvSpPr>
            <a:spLocks noGrp="1"/>
          </p:cNvSpPr>
          <p:nvPr>
            <p:ph idx="1"/>
          </p:nvPr>
        </p:nvSpPr>
        <p:spPr>
          <a:xfrm>
            <a:off x="1451579" y="2259574"/>
            <a:ext cx="5435733" cy="3450613"/>
          </a:xfrm>
        </p:spPr>
        <p:txBody>
          <a:bodyPr>
            <a:normAutofit/>
          </a:bodyPr>
          <a:lstStyle/>
          <a:p>
            <a:pPr>
              <a:buFont typeface="Wingdings" panose="05000000000000000000" pitchFamily="2" charset="2"/>
              <a:buChar char="Ø"/>
            </a:pPr>
            <a:r>
              <a:rPr lang="en-US" sz="1800" b="1" i="0" dirty="0">
                <a:solidFill>
                  <a:srgbClr val="7030A0"/>
                </a:solidFill>
                <a:effectLst>
                  <a:outerShdw blurRad="38100" dist="38100" dir="2700000" algn="tl">
                    <a:srgbClr val="000000">
                      <a:alpha val="43137"/>
                    </a:srgbClr>
                  </a:outerShdw>
                </a:effectLst>
                <a:latin typeface="Rockwell" panose="02060603020205020403" pitchFamily="18" charset="0"/>
              </a:rPr>
              <a:t>Supply chain management:  </a:t>
            </a:r>
            <a:r>
              <a:rPr lang="en-US" sz="1800" b="0" i="0" dirty="0">
                <a:effectLst/>
                <a:latin typeface="Rockwell" panose="02060603020205020403" pitchFamily="18" charset="0"/>
              </a:rPr>
              <a:t>Blockchain can help to streamline supply chain management by providing a secure and transparent ledger for tracking products from production to delivery. This can improve efficiency and reduce costs by eliminating the need for intermediaries.</a:t>
            </a:r>
          </a:p>
          <a:p>
            <a:endParaRPr lang="en-US" sz="1800" b="0" i="0" dirty="0">
              <a:effectLst/>
              <a:latin typeface="Rockwell" panose="02060603020205020403" pitchFamily="18" charset="0"/>
            </a:endParaRPr>
          </a:p>
          <a:p>
            <a:endParaRPr lang="en-IN" sz="1800" dirty="0">
              <a:latin typeface="Rockwell" panose="02060603020205020403" pitchFamily="18" charset="0"/>
            </a:endParaRPr>
          </a:p>
        </p:txBody>
      </p:sp>
      <p:grpSp>
        <p:nvGrpSpPr>
          <p:cNvPr id="10" name="Group 9">
            <a:extLst>
              <a:ext uri="{FF2B5EF4-FFF2-40B4-BE49-F238E27FC236}">
                <a16:creationId xmlns:a16="http://schemas.microsoft.com/office/drawing/2014/main" id="{FEB7DF70-0A31-4A61-9C8B-3333776A15B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390413" y="2012810"/>
            <a:ext cx="3668069" cy="3453535"/>
            <a:chOff x="7807230" y="2012810"/>
            <a:chExt cx="3251252" cy="3459865"/>
          </a:xfrm>
        </p:grpSpPr>
        <p:sp>
          <p:nvSpPr>
            <p:cNvPr id="11" name="Rectangle 10">
              <a:extLst>
                <a:ext uri="{FF2B5EF4-FFF2-40B4-BE49-F238E27FC236}">
                  <a16:creationId xmlns:a16="http://schemas.microsoft.com/office/drawing/2014/main" id="{47926867-8D58-4875-8B76-E87E5BE825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07230" y="2012810"/>
              <a:ext cx="3251252" cy="3459865"/>
            </a:xfrm>
            <a:prstGeom prst="rect">
              <a:avLst/>
            </a:prstGeom>
            <a:gradFill>
              <a:gsLst>
                <a:gs pos="0">
                  <a:srgbClr val="000001"/>
                </a:gs>
                <a:gs pos="100000">
                  <a:srgbClr val="191919"/>
                </a:gs>
              </a:gsLst>
            </a:gradFill>
            <a:ln w="76200" cmpd="sng">
              <a:noFill/>
              <a:miter lim="800000"/>
            </a:ln>
            <a:effectLst>
              <a:outerShdw blurRad="127000" dist="1905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9F6663C-0F32-4FB9-B549-C2757F49F9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07231" y="2026142"/>
              <a:ext cx="3251250" cy="3440203"/>
            </a:xfrm>
            <a:prstGeom prst="rect">
              <a:avLst/>
            </a:prstGeom>
            <a:gradFill>
              <a:gsLst>
                <a:gs pos="0">
                  <a:srgbClr val="DADADA"/>
                </a:gs>
                <a:gs pos="100000">
                  <a:srgbClr val="FFFFFE"/>
                </a:gs>
              </a:gsLst>
              <a:lin ang="16200000" scaled="0"/>
            </a:gradFill>
            <a:ln w="762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w="38100" h="38100" prst="relaxedInse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5" name="Picture 4">
            <a:extLst>
              <a:ext uri="{FF2B5EF4-FFF2-40B4-BE49-F238E27FC236}">
                <a16:creationId xmlns:a16="http://schemas.microsoft.com/office/drawing/2014/main" id="{A23C6437-B7F0-B81C-7A91-C215EF53453F}"/>
              </a:ext>
            </a:extLst>
          </p:cNvPr>
          <p:cNvPicPr>
            <a:picLocks noChangeAspect="1"/>
          </p:cNvPicPr>
          <p:nvPr/>
        </p:nvPicPr>
        <p:blipFill rotWithShape="1">
          <a:blip r:embed="rId2">
            <a:extLst>
              <a:ext uri="{28A0092B-C50C-407E-A947-70E740481C1C}">
                <a14:useLocalDpi xmlns:a14="http://schemas.microsoft.com/office/drawing/2010/main" val="0"/>
              </a:ext>
            </a:extLst>
          </a:blip>
          <a:srcRect l="9402" r="15032" b="-1"/>
          <a:stretch/>
        </p:blipFill>
        <p:spPr>
          <a:xfrm>
            <a:off x="7554139" y="2174242"/>
            <a:ext cx="3336989" cy="3124351"/>
          </a:xfrm>
          <a:prstGeom prst="rect">
            <a:avLst/>
          </a:prstGeom>
        </p:spPr>
      </p:pic>
      <p:pic>
        <p:nvPicPr>
          <p:cNvPr id="4" name="Picture 3">
            <a:extLst>
              <a:ext uri="{FF2B5EF4-FFF2-40B4-BE49-F238E27FC236}">
                <a16:creationId xmlns:a16="http://schemas.microsoft.com/office/drawing/2014/main" id="{9DD8AD91-AE06-644A-59D3-759D553E8EE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96932" y="-50800"/>
            <a:ext cx="1782000" cy="1188000"/>
          </a:xfrm>
          <a:prstGeom prst="rect">
            <a:avLst/>
          </a:prstGeom>
        </p:spPr>
      </p:pic>
    </p:spTree>
    <p:extLst>
      <p:ext uri="{BB962C8B-B14F-4D97-AF65-F5344CB8AC3E}">
        <p14:creationId xmlns:p14="http://schemas.microsoft.com/office/powerpoint/2010/main" val="987713219"/>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CD400CF9-647E-7F0D-3EF5-3BF0B432A747}"/>
              </a:ext>
            </a:extLst>
          </p:cNvPr>
          <p:cNvSpPr>
            <a:spLocks noGrp="1"/>
          </p:cNvSpPr>
          <p:nvPr>
            <p:ph type="title"/>
          </p:nvPr>
        </p:nvSpPr>
        <p:spPr>
          <a:xfrm>
            <a:off x="1451579" y="804519"/>
            <a:ext cx="9603275" cy="1049235"/>
          </a:xfrm>
        </p:spPr>
        <p:txBody>
          <a:bodyPr>
            <a:normAutofit/>
          </a:bodyPr>
          <a:lstStyle/>
          <a:p>
            <a:r>
              <a:rPr lang="en-US" b="0" i="0" dirty="0">
                <a:effectLst>
                  <a:outerShdw blurRad="38100" dist="38100" dir="2700000" algn="tl">
                    <a:srgbClr val="000000">
                      <a:alpha val="43137"/>
                    </a:srgbClr>
                  </a:outerShdw>
                </a:effectLst>
                <a:latin typeface="Rockwell" panose="02060603020205020403" pitchFamily="18" charset="0"/>
              </a:rPr>
              <a:t>blockchain technology in industrial sector</a:t>
            </a:r>
            <a:endParaRPr lang="en-IN" dirty="0">
              <a:effectLst>
                <a:outerShdw blurRad="38100" dist="38100" dir="2700000" algn="tl">
                  <a:srgbClr val="000000">
                    <a:alpha val="43137"/>
                  </a:srgbClr>
                </a:outerShdw>
              </a:effectLst>
              <a:latin typeface="Rockwell" panose="02060603020205020403" pitchFamily="18" charset="0"/>
            </a:endParaRPr>
          </a:p>
        </p:txBody>
      </p:sp>
      <p:sp>
        <p:nvSpPr>
          <p:cNvPr id="3" name="Content Placeholder 2">
            <a:extLst>
              <a:ext uri="{FF2B5EF4-FFF2-40B4-BE49-F238E27FC236}">
                <a16:creationId xmlns:a16="http://schemas.microsoft.com/office/drawing/2014/main" id="{2B895E2B-B04E-6E16-9F7C-6F842A45A259}"/>
              </a:ext>
            </a:extLst>
          </p:cNvPr>
          <p:cNvSpPr>
            <a:spLocks noGrp="1"/>
          </p:cNvSpPr>
          <p:nvPr>
            <p:ph idx="1"/>
          </p:nvPr>
        </p:nvSpPr>
        <p:spPr>
          <a:xfrm>
            <a:off x="1373343" y="2017765"/>
            <a:ext cx="5935207" cy="3450613"/>
          </a:xfrm>
        </p:spPr>
        <p:txBody>
          <a:bodyPr>
            <a:noAutofit/>
          </a:bodyPr>
          <a:lstStyle/>
          <a:p>
            <a:pPr>
              <a:lnSpc>
                <a:spcPct val="110000"/>
              </a:lnSpc>
              <a:buFont typeface="Wingdings" panose="05000000000000000000" pitchFamily="2" charset="2"/>
              <a:buChar char="Ø"/>
            </a:pPr>
            <a:r>
              <a:rPr lang="en-US" sz="1800" b="1" i="0" dirty="0">
                <a:solidFill>
                  <a:srgbClr val="7030A0"/>
                </a:solidFill>
                <a:effectLst>
                  <a:outerShdw blurRad="38100" dist="38100" dir="2700000" algn="tl">
                    <a:srgbClr val="000000">
                      <a:alpha val="43137"/>
                    </a:srgbClr>
                  </a:outerShdw>
                </a:effectLst>
                <a:latin typeface="Rockwell" panose="02060603020205020403" pitchFamily="18" charset="0"/>
              </a:rPr>
              <a:t>Data sharing: </a:t>
            </a:r>
            <a:r>
              <a:rPr lang="en-US" sz="1800" b="0" i="0" dirty="0">
                <a:latin typeface="Rockwell" panose="02060603020205020403" pitchFamily="18" charset="0"/>
              </a:rPr>
              <a:t>Blockchain can facilitate secure data sharing between different organizations within the industrial sector, such as manufacturers, suppliers, and distributors. This can help to improve collaboration and decision-making, while maintaining the privacy and security of sensitive data.</a:t>
            </a:r>
          </a:p>
          <a:p>
            <a:pPr>
              <a:lnSpc>
                <a:spcPct val="110000"/>
              </a:lnSpc>
              <a:buFont typeface="Wingdings" panose="05000000000000000000" pitchFamily="2" charset="2"/>
              <a:buChar char="Ø"/>
            </a:pPr>
            <a:r>
              <a:rPr lang="en-US" sz="1800" b="1" i="0" dirty="0">
                <a:solidFill>
                  <a:srgbClr val="7030A0"/>
                </a:solidFill>
                <a:effectLst>
                  <a:outerShdw blurRad="38100" dist="38100" dir="2700000" algn="tl">
                    <a:srgbClr val="000000">
                      <a:alpha val="43137"/>
                    </a:srgbClr>
                  </a:outerShdw>
                </a:effectLst>
                <a:latin typeface="Rockwell" panose="02060603020205020403" pitchFamily="18" charset="0"/>
              </a:rPr>
              <a:t>Smart contracts: </a:t>
            </a:r>
            <a:r>
              <a:rPr lang="en-US" sz="1800" b="0" i="0" dirty="0">
                <a:effectLst/>
                <a:latin typeface="Rockwell" panose="02060603020205020403" pitchFamily="18" charset="0"/>
              </a:rPr>
              <a:t>Blockchain can be used to automate contract execution and enforcement, reducing the need for intermediaries and improving the efficiency and security of transactions.</a:t>
            </a:r>
          </a:p>
          <a:p>
            <a:pPr>
              <a:lnSpc>
                <a:spcPct val="110000"/>
              </a:lnSpc>
            </a:pPr>
            <a:endParaRPr lang="en-IN" sz="1800" dirty="0">
              <a:latin typeface="Rockwell" panose="02060603020205020403" pitchFamily="18" charset="0"/>
            </a:endParaRPr>
          </a:p>
          <a:p>
            <a:pPr marL="0" indent="0">
              <a:lnSpc>
                <a:spcPct val="110000"/>
              </a:lnSpc>
              <a:buNone/>
            </a:pPr>
            <a:endParaRPr lang="en-US" sz="1800" b="0" i="0" dirty="0">
              <a:latin typeface="Rockwell" panose="02060603020205020403" pitchFamily="18" charset="0"/>
            </a:endParaRPr>
          </a:p>
          <a:p>
            <a:pPr marL="0" indent="0">
              <a:lnSpc>
                <a:spcPct val="110000"/>
              </a:lnSpc>
              <a:buNone/>
            </a:pPr>
            <a:endParaRPr lang="en-US" sz="1800" dirty="0">
              <a:latin typeface="Rockwell" panose="02060603020205020403" pitchFamily="18" charset="0"/>
            </a:endParaRPr>
          </a:p>
          <a:p>
            <a:pPr marL="0" indent="0">
              <a:lnSpc>
                <a:spcPct val="110000"/>
              </a:lnSpc>
              <a:buNone/>
            </a:pPr>
            <a:endParaRPr lang="en-IN" sz="1800" dirty="0"/>
          </a:p>
        </p:txBody>
      </p:sp>
      <p:grpSp>
        <p:nvGrpSpPr>
          <p:cNvPr id="13" name="Group 12">
            <a:extLst>
              <a:ext uri="{FF2B5EF4-FFF2-40B4-BE49-F238E27FC236}">
                <a16:creationId xmlns:a16="http://schemas.microsoft.com/office/drawing/2014/main" id="{FEB7DF70-0A31-4A61-9C8B-3333776A15B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390413" y="2012810"/>
            <a:ext cx="3668069" cy="3453535"/>
            <a:chOff x="7807230" y="2012810"/>
            <a:chExt cx="3251252" cy="3459865"/>
          </a:xfrm>
        </p:grpSpPr>
        <p:sp>
          <p:nvSpPr>
            <p:cNvPr id="14" name="Rectangle 13">
              <a:extLst>
                <a:ext uri="{FF2B5EF4-FFF2-40B4-BE49-F238E27FC236}">
                  <a16:creationId xmlns:a16="http://schemas.microsoft.com/office/drawing/2014/main" id="{47926867-8D58-4875-8B76-E87E5BE825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07230" y="2012810"/>
              <a:ext cx="3251252" cy="3459865"/>
            </a:xfrm>
            <a:prstGeom prst="rect">
              <a:avLst/>
            </a:prstGeom>
            <a:gradFill>
              <a:gsLst>
                <a:gs pos="0">
                  <a:srgbClr val="000001"/>
                </a:gs>
                <a:gs pos="100000">
                  <a:srgbClr val="191919"/>
                </a:gs>
              </a:gsLst>
            </a:gradFill>
            <a:ln w="76200" cmpd="sng">
              <a:noFill/>
              <a:miter lim="800000"/>
            </a:ln>
            <a:effectLst>
              <a:outerShdw blurRad="127000" dist="1905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9F6663C-0F32-4FB9-B549-C2757F49F9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07231" y="2026142"/>
              <a:ext cx="3251250" cy="3440203"/>
            </a:xfrm>
            <a:prstGeom prst="rect">
              <a:avLst/>
            </a:prstGeom>
            <a:gradFill>
              <a:gsLst>
                <a:gs pos="0">
                  <a:srgbClr val="DADADA"/>
                </a:gs>
                <a:gs pos="100000">
                  <a:srgbClr val="FFFFFE"/>
                </a:gs>
              </a:gsLst>
              <a:lin ang="16200000" scaled="0"/>
            </a:gradFill>
            <a:ln w="762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w="38100" h="38100" prst="relaxedInse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7" name="Picture 6">
            <a:extLst>
              <a:ext uri="{FF2B5EF4-FFF2-40B4-BE49-F238E27FC236}">
                <a16:creationId xmlns:a16="http://schemas.microsoft.com/office/drawing/2014/main" id="{25A72E6B-F5BD-6907-E96A-54222D76860D}"/>
              </a:ext>
            </a:extLst>
          </p:cNvPr>
          <p:cNvPicPr>
            <a:picLocks noChangeAspect="1"/>
          </p:cNvPicPr>
          <p:nvPr/>
        </p:nvPicPr>
        <p:blipFill rotWithShape="1">
          <a:blip r:embed="rId2">
            <a:extLst>
              <a:ext uri="{28A0092B-C50C-407E-A947-70E740481C1C}">
                <a14:useLocalDpi xmlns:a14="http://schemas.microsoft.com/office/drawing/2010/main" val="0"/>
              </a:ext>
            </a:extLst>
          </a:blip>
          <a:srcRect t="3496" r="-4" b="5447"/>
          <a:stretch/>
        </p:blipFill>
        <p:spPr>
          <a:xfrm>
            <a:off x="7554139" y="2174242"/>
            <a:ext cx="3336989" cy="3124351"/>
          </a:xfrm>
          <a:prstGeom prst="rect">
            <a:avLst/>
          </a:prstGeom>
        </p:spPr>
      </p:pic>
      <p:pic>
        <p:nvPicPr>
          <p:cNvPr id="9" name="Picture 8">
            <a:extLst>
              <a:ext uri="{FF2B5EF4-FFF2-40B4-BE49-F238E27FC236}">
                <a16:creationId xmlns:a16="http://schemas.microsoft.com/office/drawing/2014/main" id="{3E93470D-4494-C0B7-4AC7-B10228EBCA7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96932" y="-50800"/>
            <a:ext cx="1782000" cy="1188000"/>
          </a:xfrm>
          <a:prstGeom prst="rect">
            <a:avLst/>
          </a:prstGeom>
        </p:spPr>
      </p:pic>
    </p:spTree>
    <p:extLst>
      <p:ext uri="{BB962C8B-B14F-4D97-AF65-F5344CB8AC3E}">
        <p14:creationId xmlns:p14="http://schemas.microsoft.com/office/powerpoint/2010/main" val="2521466691"/>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EBD624E-1D87-2007-E2F9-22540B39EBFD}"/>
              </a:ext>
            </a:extLst>
          </p:cNvPr>
          <p:cNvSpPr>
            <a:spLocks noGrp="1"/>
          </p:cNvSpPr>
          <p:nvPr>
            <p:ph type="title"/>
          </p:nvPr>
        </p:nvSpPr>
        <p:spPr>
          <a:xfrm>
            <a:off x="1450975" y="804863"/>
            <a:ext cx="9604375" cy="1049337"/>
          </a:xfrm>
        </p:spPr>
        <p:txBody>
          <a:bodyPr>
            <a:normAutofit/>
          </a:bodyPr>
          <a:lstStyle/>
          <a:p>
            <a:r>
              <a:rPr lang="en-US" b="0" i="0" dirty="0">
                <a:effectLst>
                  <a:outerShdw blurRad="38100" dist="38100" dir="2700000" algn="tl">
                    <a:srgbClr val="000000">
                      <a:alpha val="43137"/>
                    </a:srgbClr>
                  </a:outerShdw>
                </a:effectLst>
                <a:latin typeface="Rockwell" panose="02060603020205020403" pitchFamily="18" charset="0"/>
              </a:rPr>
              <a:t>blockchain technology in industrial sector</a:t>
            </a:r>
            <a:endParaRPr lang="en-IN" dirty="0">
              <a:effectLst>
                <a:outerShdw blurRad="38100" dist="38100" dir="2700000" algn="tl">
                  <a:srgbClr val="000000">
                    <a:alpha val="43137"/>
                  </a:srgbClr>
                </a:outerShdw>
              </a:effectLst>
              <a:latin typeface="Rockwell" panose="02060603020205020403" pitchFamily="18" charset="0"/>
            </a:endParaRPr>
          </a:p>
        </p:txBody>
      </p:sp>
      <p:sp>
        <p:nvSpPr>
          <p:cNvPr id="3" name="Content Placeholder 2">
            <a:extLst>
              <a:ext uri="{FF2B5EF4-FFF2-40B4-BE49-F238E27FC236}">
                <a16:creationId xmlns:a16="http://schemas.microsoft.com/office/drawing/2014/main" id="{CD320063-2AB6-B165-A150-D5C3BFE074BC}"/>
              </a:ext>
            </a:extLst>
          </p:cNvPr>
          <p:cNvSpPr>
            <a:spLocks noGrp="1"/>
          </p:cNvSpPr>
          <p:nvPr>
            <p:ph idx="1"/>
          </p:nvPr>
        </p:nvSpPr>
        <p:spPr>
          <a:xfrm>
            <a:off x="1450975" y="2117334"/>
            <a:ext cx="4158849" cy="3450613"/>
          </a:xfrm>
        </p:spPr>
        <p:txBody>
          <a:bodyPr>
            <a:normAutofit/>
          </a:bodyPr>
          <a:lstStyle/>
          <a:p>
            <a:pPr>
              <a:lnSpc>
                <a:spcPct val="110000"/>
              </a:lnSpc>
              <a:buFont typeface="Wingdings" panose="05000000000000000000" pitchFamily="2" charset="2"/>
              <a:buChar char="Ø"/>
            </a:pPr>
            <a:r>
              <a:rPr lang="en-US" sz="1800" b="1" i="0" dirty="0">
                <a:solidFill>
                  <a:srgbClr val="7030A0"/>
                </a:solidFill>
                <a:effectLst>
                  <a:outerShdw blurRad="38100" dist="38100" dir="2700000" algn="tl">
                    <a:srgbClr val="000000">
                      <a:alpha val="43137"/>
                    </a:srgbClr>
                  </a:outerShdw>
                </a:effectLst>
                <a:latin typeface="Rockwell" panose="02060603020205020403" pitchFamily="18" charset="0"/>
              </a:rPr>
              <a:t>Asset tracking: </a:t>
            </a:r>
            <a:r>
              <a:rPr lang="en-US" sz="1800" b="0" i="0" dirty="0">
                <a:effectLst/>
                <a:latin typeface="Rockwell" panose="02060603020205020403" pitchFamily="18" charset="0"/>
              </a:rPr>
              <a:t>Blockchain can be used to track assets such as equipment, machinery, and vehicles, providing a secure and transparent ledger for monitoring their status and location. This can help to improve maintenance and repair processes, and reduce the risk of theft or loss.</a:t>
            </a:r>
          </a:p>
          <a:p>
            <a:pPr>
              <a:lnSpc>
                <a:spcPct val="110000"/>
              </a:lnSpc>
            </a:pPr>
            <a:endParaRPr lang="en-IN" sz="1800" dirty="0">
              <a:latin typeface="Rockwell" panose="02060603020205020403" pitchFamily="18" charset="0"/>
            </a:endParaRPr>
          </a:p>
          <a:p>
            <a:pPr>
              <a:lnSpc>
                <a:spcPct val="110000"/>
              </a:lnSpc>
            </a:pPr>
            <a:endParaRPr lang="en-IN" sz="1800" dirty="0"/>
          </a:p>
        </p:txBody>
      </p:sp>
      <p:grpSp>
        <p:nvGrpSpPr>
          <p:cNvPr id="10" name="Group 9">
            <a:extLst>
              <a:ext uri="{FF2B5EF4-FFF2-40B4-BE49-F238E27FC236}">
                <a16:creationId xmlns:a16="http://schemas.microsoft.com/office/drawing/2014/main" id="{F7C65FA4-631C-444F-89AA-F891363CCF6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09823" y="2012810"/>
            <a:ext cx="4948659" cy="3453535"/>
            <a:chOff x="7807230" y="2012810"/>
            <a:chExt cx="3251252" cy="3459865"/>
          </a:xfrm>
        </p:grpSpPr>
        <p:sp>
          <p:nvSpPr>
            <p:cNvPr id="11" name="Rectangle 10">
              <a:extLst>
                <a:ext uri="{FF2B5EF4-FFF2-40B4-BE49-F238E27FC236}">
                  <a16:creationId xmlns:a16="http://schemas.microsoft.com/office/drawing/2014/main" id="{353C58CC-6818-48FD-9CE0-B43BF88B73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07230" y="2012810"/>
              <a:ext cx="3251252" cy="3459865"/>
            </a:xfrm>
            <a:prstGeom prst="rect">
              <a:avLst/>
            </a:prstGeom>
            <a:gradFill>
              <a:gsLst>
                <a:gs pos="0">
                  <a:srgbClr val="000001"/>
                </a:gs>
                <a:gs pos="100000">
                  <a:srgbClr val="191919"/>
                </a:gs>
              </a:gsLst>
            </a:gradFill>
            <a:ln w="76200" cmpd="sng">
              <a:noFill/>
              <a:miter lim="800000"/>
            </a:ln>
            <a:effectLst>
              <a:outerShdw blurRad="127000" dist="1905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B2694E9-2175-4647-803A-3AD63554C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07231" y="2026142"/>
              <a:ext cx="3251250" cy="3440203"/>
            </a:xfrm>
            <a:prstGeom prst="rect">
              <a:avLst/>
            </a:prstGeom>
            <a:solidFill>
              <a:schemeClr val="bg1"/>
            </a:solidFill>
            <a:ln w="762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w="38100" h="38100" prst="relaxedInse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5" name="Picture 4">
            <a:extLst>
              <a:ext uri="{FF2B5EF4-FFF2-40B4-BE49-F238E27FC236}">
                <a16:creationId xmlns:a16="http://schemas.microsoft.com/office/drawing/2014/main" id="{74E9347C-1A49-5A3E-9A77-C46F56CF3BE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77257" y="2721366"/>
            <a:ext cx="4613872" cy="2030102"/>
          </a:xfrm>
          <a:prstGeom prst="rect">
            <a:avLst/>
          </a:prstGeom>
        </p:spPr>
      </p:pic>
      <p:pic>
        <p:nvPicPr>
          <p:cNvPr id="6" name="Picture 5">
            <a:extLst>
              <a:ext uri="{FF2B5EF4-FFF2-40B4-BE49-F238E27FC236}">
                <a16:creationId xmlns:a16="http://schemas.microsoft.com/office/drawing/2014/main" id="{9A22BB66-FBC5-EAE6-799F-09F9E34FB73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96932" y="-50800"/>
            <a:ext cx="1782000" cy="1188000"/>
          </a:xfrm>
          <a:prstGeom prst="rect">
            <a:avLst/>
          </a:prstGeom>
        </p:spPr>
      </p:pic>
    </p:spTree>
    <p:extLst>
      <p:ext uri="{BB962C8B-B14F-4D97-AF65-F5344CB8AC3E}">
        <p14:creationId xmlns:p14="http://schemas.microsoft.com/office/powerpoint/2010/main" val="3767396587"/>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40B688-66A3-C169-9000-458B04A1871A}"/>
              </a:ext>
            </a:extLst>
          </p:cNvPr>
          <p:cNvSpPr>
            <a:spLocks noGrp="1"/>
          </p:cNvSpPr>
          <p:nvPr>
            <p:ph type="title"/>
          </p:nvPr>
        </p:nvSpPr>
        <p:spPr>
          <a:xfrm>
            <a:off x="1451579" y="1139799"/>
            <a:ext cx="9603275" cy="1049235"/>
          </a:xfrm>
        </p:spPr>
        <p:txBody>
          <a:bodyPr>
            <a:normAutofit/>
          </a:bodyPr>
          <a:lstStyle/>
          <a:p>
            <a:r>
              <a:rPr lang="en-US" i="0" dirty="0">
                <a:effectLst>
                  <a:outerShdw blurRad="38100" dist="38100" dir="2700000" algn="tl">
                    <a:srgbClr val="000000">
                      <a:alpha val="43137"/>
                    </a:srgbClr>
                  </a:outerShdw>
                </a:effectLst>
                <a:latin typeface="Rockwell" panose="02060603020205020403" pitchFamily="18" charset="0"/>
              </a:rPr>
              <a:t>5 Blockchain application In Real Life</a:t>
            </a:r>
            <a:endParaRPr lang="en-IN" dirty="0">
              <a:effectLst>
                <a:outerShdw blurRad="38100" dist="38100" dir="2700000" algn="tl">
                  <a:srgbClr val="000000">
                    <a:alpha val="43137"/>
                  </a:srgbClr>
                </a:outerShdw>
              </a:effectLst>
              <a:latin typeface="Rockwell" panose="02060603020205020403" pitchFamily="18" charset="0"/>
            </a:endParaRPr>
          </a:p>
        </p:txBody>
      </p:sp>
      <p:sp>
        <p:nvSpPr>
          <p:cNvPr id="3" name="Content Placeholder 2">
            <a:extLst>
              <a:ext uri="{FF2B5EF4-FFF2-40B4-BE49-F238E27FC236}">
                <a16:creationId xmlns:a16="http://schemas.microsoft.com/office/drawing/2014/main" id="{6DDD1E30-9672-EDAA-1199-F4D1922C7458}"/>
              </a:ext>
            </a:extLst>
          </p:cNvPr>
          <p:cNvSpPr>
            <a:spLocks noGrp="1"/>
          </p:cNvSpPr>
          <p:nvPr>
            <p:ph idx="1"/>
          </p:nvPr>
        </p:nvSpPr>
        <p:spPr>
          <a:xfrm>
            <a:off x="1451579" y="2015735"/>
            <a:ext cx="4431061" cy="3379226"/>
          </a:xfrm>
        </p:spPr>
        <p:txBody>
          <a:bodyPr>
            <a:normAutofit/>
          </a:bodyPr>
          <a:lstStyle/>
          <a:p>
            <a:pPr>
              <a:lnSpc>
                <a:spcPct val="110000"/>
              </a:lnSpc>
              <a:buFont typeface="Wingdings" panose="05000000000000000000" pitchFamily="2" charset="2"/>
              <a:buChar char="ü"/>
            </a:pPr>
            <a:r>
              <a:rPr lang="en-US" sz="1800" i="0" dirty="0">
                <a:effectLst/>
                <a:latin typeface="Rockwell" panose="02060603020205020403" pitchFamily="18" charset="0"/>
              </a:rPr>
              <a:t>Blockchain in Electronic Health Record</a:t>
            </a:r>
          </a:p>
          <a:p>
            <a:pPr>
              <a:lnSpc>
                <a:spcPct val="110000"/>
              </a:lnSpc>
              <a:buFont typeface="Wingdings" panose="05000000000000000000" pitchFamily="2" charset="2"/>
              <a:buChar char="ü"/>
            </a:pPr>
            <a:r>
              <a:rPr lang="en-US" sz="1800" i="0" dirty="0">
                <a:effectLst/>
                <a:latin typeface="Rockwell" panose="02060603020205020403" pitchFamily="18" charset="0"/>
              </a:rPr>
              <a:t>Blockchain acting as Land Registry</a:t>
            </a:r>
          </a:p>
          <a:p>
            <a:pPr>
              <a:lnSpc>
                <a:spcPct val="110000"/>
              </a:lnSpc>
              <a:buFont typeface="Wingdings" panose="05000000000000000000" pitchFamily="2" charset="2"/>
              <a:buChar char="ü"/>
            </a:pPr>
            <a:r>
              <a:rPr lang="en-US" sz="1800" i="0" dirty="0">
                <a:effectLst/>
                <a:latin typeface="Rockwell" panose="02060603020205020403" pitchFamily="18" charset="0"/>
              </a:rPr>
              <a:t> Blockchain in Cross Border Remittances</a:t>
            </a:r>
            <a:endParaRPr lang="en-US" sz="1800" dirty="0">
              <a:latin typeface="Rockwell" panose="02060603020205020403" pitchFamily="18" charset="0"/>
            </a:endParaRPr>
          </a:p>
          <a:p>
            <a:pPr>
              <a:lnSpc>
                <a:spcPct val="110000"/>
              </a:lnSpc>
              <a:buFont typeface="Wingdings" panose="05000000000000000000" pitchFamily="2" charset="2"/>
              <a:buChar char="ü"/>
            </a:pPr>
            <a:r>
              <a:rPr lang="en-IN" sz="1800" i="0" dirty="0">
                <a:effectLst/>
                <a:latin typeface="Rockwell" panose="02060603020205020403" pitchFamily="18" charset="0"/>
              </a:rPr>
              <a:t>Blockchain Supply Chain Management</a:t>
            </a:r>
            <a:endParaRPr lang="en-US" sz="1800" i="0" dirty="0">
              <a:effectLst/>
              <a:latin typeface="Rockwell" panose="02060603020205020403" pitchFamily="18" charset="0"/>
            </a:endParaRPr>
          </a:p>
          <a:p>
            <a:pPr>
              <a:lnSpc>
                <a:spcPct val="110000"/>
              </a:lnSpc>
              <a:buFont typeface="Wingdings" panose="05000000000000000000" pitchFamily="2" charset="2"/>
              <a:buChar char="ü"/>
            </a:pPr>
            <a:r>
              <a:rPr lang="en-IN" sz="1800" i="0" dirty="0">
                <a:effectLst/>
                <a:latin typeface="Rockwell" panose="02060603020205020403" pitchFamily="18" charset="0"/>
              </a:rPr>
              <a:t>Blockchain in Identity Management</a:t>
            </a:r>
            <a:endParaRPr lang="en-IN" sz="1800" dirty="0">
              <a:latin typeface="Rockwell" panose="02060603020205020403" pitchFamily="18" charset="0"/>
            </a:endParaRPr>
          </a:p>
        </p:txBody>
      </p:sp>
      <p:pic>
        <p:nvPicPr>
          <p:cNvPr id="7" name="Picture 6">
            <a:extLst>
              <a:ext uri="{FF2B5EF4-FFF2-40B4-BE49-F238E27FC236}">
                <a16:creationId xmlns:a16="http://schemas.microsoft.com/office/drawing/2014/main" id="{C741588D-D9E2-ECCB-18F8-CC156A6E8E99}"/>
              </a:ext>
            </a:extLst>
          </p:cNvPr>
          <p:cNvPicPr>
            <a:picLocks noChangeAspect="1"/>
          </p:cNvPicPr>
          <p:nvPr/>
        </p:nvPicPr>
        <p:blipFill>
          <a:blip r:embed="rId2"/>
          <a:stretch>
            <a:fillRect/>
          </a:stretch>
        </p:blipFill>
        <p:spPr>
          <a:xfrm>
            <a:off x="6109909" y="2015734"/>
            <a:ext cx="4929447" cy="3450613"/>
          </a:xfrm>
          <a:prstGeom prst="rect">
            <a:avLst/>
          </a:prstGeom>
        </p:spPr>
      </p:pic>
      <p:pic>
        <p:nvPicPr>
          <p:cNvPr id="8" name="Picture 7">
            <a:extLst>
              <a:ext uri="{FF2B5EF4-FFF2-40B4-BE49-F238E27FC236}">
                <a16:creationId xmlns:a16="http://schemas.microsoft.com/office/drawing/2014/main" id="{2FF7A0D7-4440-CE9F-F4E7-7665D6F945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96932" y="-50800"/>
            <a:ext cx="1782000" cy="1188000"/>
          </a:xfrm>
          <a:prstGeom prst="rect">
            <a:avLst/>
          </a:prstGeom>
        </p:spPr>
      </p:pic>
    </p:spTree>
    <p:extLst>
      <p:ext uri="{BB962C8B-B14F-4D97-AF65-F5344CB8AC3E}">
        <p14:creationId xmlns:p14="http://schemas.microsoft.com/office/powerpoint/2010/main" val="2882545570"/>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DEDF3B-B4CF-7A4A-8405-80C2BC2E84CE}"/>
              </a:ext>
            </a:extLst>
          </p:cNvPr>
          <p:cNvSpPr>
            <a:spLocks noGrp="1"/>
          </p:cNvSpPr>
          <p:nvPr>
            <p:ph type="title"/>
          </p:nvPr>
        </p:nvSpPr>
        <p:spPr>
          <a:xfrm>
            <a:off x="1451579" y="1068679"/>
            <a:ext cx="9603275" cy="1049235"/>
          </a:xfrm>
        </p:spPr>
        <p:txBody>
          <a:bodyPr>
            <a:normAutofit fontScale="90000"/>
          </a:bodyPr>
          <a:lstStyle/>
          <a:p>
            <a:r>
              <a:rPr lang="en-US" i="0" dirty="0">
                <a:effectLst>
                  <a:outerShdw blurRad="38100" dist="38100" dir="2700000" algn="tl">
                    <a:srgbClr val="000000">
                      <a:alpha val="43137"/>
                    </a:srgbClr>
                  </a:outerShdw>
                </a:effectLst>
                <a:latin typeface="Rockwell" panose="02060603020205020403" pitchFamily="18" charset="0"/>
              </a:rPr>
              <a:t>Why Blockchain technology is the Future?</a:t>
            </a:r>
            <a:br>
              <a:rPr lang="en-US" i="0" dirty="0">
                <a:effectLst>
                  <a:outerShdw blurRad="38100" dist="38100" dir="2700000" algn="tl">
                    <a:srgbClr val="000000">
                      <a:alpha val="43137"/>
                    </a:srgbClr>
                  </a:outerShdw>
                </a:effectLst>
                <a:latin typeface="Rockwell" panose="02060603020205020403" pitchFamily="18" charset="0"/>
              </a:rPr>
            </a:br>
            <a:endParaRPr lang="en-IN" dirty="0">
              <a:effectLst>
                <a:outerShdw blurRad="38100" dist="38100" dir="2700000" algn="tl">
                  <a:srgbClr val="000000">
                    <a:alpha val="43137"/>
                  </a:srgbClr>
                </a:outerShdw>
              </a:effectLst>
              <a:latin typeface="Rockwell" panose="02060603020205020403" pitchFamily="18" charset="0"/>
            </a:endParaRPr>
          </a:p>
        </p:txBody>
      </p:sp>
      <p:sp>
        <p:nvSpPr>
          <p:cNvPr id="3" name="Content Placeholder 2">
            <a:extLst>
              <a:ext uri="{FF2B5EF4-FFF2-40B4-BE49-F238E27FC236}">
                <a16:creationId xmlns:a16="http://schemas.microsoft.com/office/drawing/2014/main" id="{3802E9B3-2878-CDD3-DA68-2B867E4AB604}"/>
              </a:ext>
            </a:extLst>
          </p:cNvPr>
          <p:cNvSpPr>
            <a:spLocks noGrp="1"/>
          </p:cNvSpPr>
          <p:nvPr>
            <p:ph idx="1"/>
          </p:nvPr>
        </p:nvSpPr>
        <p:spPr>
          <a:xfrm>
            <a:off x="1451579" y="2015732"/>
            <a:ext cx="9603275" cy="3897388"/>
          </a:xfrm>
        </p:spPr>
        <p:txBody>
          <a:bodyPr>
            <a:normAutofit fontScale="92500"/>
          </a:bodyPr>
          <a:lstStyle/>
          <a:p>
            <a:pPr>
              <a:buFont typeface="Wingdings" panose="05000000000000000000" pitchFamily="2" charset="2"/>
              <a:buChar char="Ø"/>
            </a:pPr>
            <a:r>
              <a:rPr lang="en-US" b="0" i="0" dirty="0">
                <a:effectLst/>
                <a:latin typeface="Rockwell" panose="02060603020205020403" pitchFamily="18" charset="0"/>
              </a:rPr>
              <a:t>Blockchain technology has the potential to revolutionize various industries and reshape the way we interact and conduct transactions.</a:t>
            </a:r>
          </a:p>
          <a:p>
            <a:pPr>
              <a:buFont typeface="Wingdings" panose="05000000000000000000" pitchFamily="2" charset="2"/>
              <a:buChar char="Ø"/>
            </a:pPr>
            <a:r>
              <a:rPr lang="en-US" dirty="0">
                <a:latin typeface="Rockwell" panose="02060603020205020403" pitchFamily="18" charset="0"/>
              </a:rPr>
              <a:t>B</a:t>
            </a:r>
            <a:r>
              <a:rPr lang="en-US" b="0" i="0" dirty="0">
                <a:effectLst/>
                <a:latin typeface="Rockwell" panose="02060603020205020403" pitchFamily="18" charset="0"/>
              </a:rPr>
              <a:t>lockchain technology offers a range of benefits that make it a promising technology for the future. While there are still some challenges to overcome, such as scalability and interoperability, the potential benefits make it an exciting area for further development and exploration. </a:t>
            </a:r>
          </a:p>
          <a:p>
            <a:pPr>
              <a:buFont typeface="Wingdings" panose="05000000000000000000" pitchFamily="2" charset="2"/>
              <a:buChar char="Ø"/>
            </a:pPr>
            <a:r>
              <a:rPr lang="en-US" b="0" i="0" dirty="0">
                <a:effectLst/>
                <a:latin typeface="Rockwell" panose="02060603020205020403" pitchFamily="18" charset="0"/>
              </a:rPr>
              <a:t>Here are some reasons why blockchain technology is the future:</a:t>
            </a:r>
          </a:p>
          <a:p>
            <a:pPr marL="457200" indent="-457200">
              <a:buFont typeface="+mj-lt"/>
              <a:buAutoNum type="arabicPeriod"/>
            </a:pPr>
            <a:r>
              <a:rPr lang="en-IN" b="1" i="0" dirty="0">
                <a:effectLst/>
                <a:latin typeface="Rockwell" panose="02060603020205020403" pitchFamily="18" charset="0"/>
              </a:rPr>
              <a:t>Decentralization                 </a:t>
            </a:r>
            <a:r>
              <a:rPr lang="en-IN" b="1" i="0" dirty="0">
                <a:solidFill>
                  <a:srgbClr val="C00000"/>
                </a:solidFill>
                <a:effectLst/>
                <a:latin typeface="Rockwell" panose="02060603020205020403" pitchFamily="18" charset="0"/>
              </a:rPr>
              <a:t>3.    </a:t>
            </a:r>
            <a:r>
              <a:rPr lang="en-IN" b="1" i="0" dirty="0">
                <a:effectLst/>
                <a:latin typeface="Rockwell" panose="02060603020205020403" pitchFamily="18" charset="0"/>
              </a:rPr>
              <a:t>Transparency                  </a:t>
            </a:r>
            <a:r>
              <a:rPr lang="en-IN" b="1" i="0" dirty="0">
                <a:solidFill>
                  <a:srgbClr val="C00000"/>
                </a:solidFill>
                <a:effectLst/>
                <a:latin typeface="Rockwell" panose="02060603020205020403" pitchFamily="18" charset="0"/>
              </a:rPr>
              <a:t>5.</a:t>
            </a:r>
            <a:r>
              <a:rPr lang="en-IN" b="1" i="0" dirty="0">
                <a:effectLst/>
                <a:latin typeface="Rockwell" panose="02060603020205020403" pitchFamily="18" charset="0"/>
              </a:rPr>
              <a:t>   Potential innovation</a:t>
            </a:r>
          </a:p>
          <a:p>
            <a:pPr marL="0" indent="0">
              <a:buNone/>
            </a:pPr>
            <a:r>
              <a:rPr lang="en-IN" b="1" i="0" dirty="0">
                <a:solidFill>
                  <a:srgbClr val="C00000"/>
                </a:solidFill>
                <a:effectLst/>
                <a:latin typeface="Rockwell" panose="02060603020205020403" pitchFamily="18" charset="0"/>
              </a:rPr>
              <a:t>2.    </a:t>
            </a:r>
            <a:r>
              <a:rPr lang="en-IN" b="1" i="0" dirty="0">
                <a:effectLst/>
                <a:latin typeface="Rockwell" panose="02060603020205020403" pitchFamily="18" charset="0"/>
              </a:rPr>
              <a:t>Security                                  </a:t>
            </a:r>
            <a:r>
              <a:rPr lang="en-IN" b="0" i="0" dirty="0">
                <a:solidFill>
                  <a:srgbClr val="C00000"/>
                </a:solidFill>
                <a:effectLst/>
                <a:latin typeface="Rockwell" panose="02060603020205020403" pitchFamily="18" charset="0"/>
              </a:rPr>
              <a:t>4.    </a:t>
            </a:r>
            <a:r>
              <a:rPr lang="en-IN" b="1" i="0" dirty="0">
                <a:effectLst/>
                <a:latin typeface="Rockwell" panose="02060603020205020403" pitchFamily="18" charset="0"/>
              </a:rPr>
              <a:t>Smart contracts</a:t>
            </a:r>
            <a:endParaRPr lang="en-US" b="1" i="0" dirty="0">
              <a:effectLst/>
              <a:latin typeface="Rockwell" panose="02060603020205020403" pitchFamily="18" charset="0"/>
            </a:endParaRPr>
          </a:p>
          <a:p>
            <a:pPr marL="0" indent="0">
              <a:buNone/>
            </a:pPr>
            <a:endParaRPr lang="en-IN" dirty="0">
              <a:latin typeface="Rockwell" panose="02060603020205020403" pitchFamily="18" charset="0"/>
            </a:endParaRPr>
          </a:p>
        </p:txBody>
      </p:sp>
      <p:pic>
        <p:nvPicPr>
          <p:cNvPr id="6" name="Picture 5">
            <a:extLst>
              <a:ext uri="{FF2B5EF4-FFF2-40B4-BE49-F238E27FC236}">
                <a16:creationId xmlns:a16="http://schemas.microsoft.com/office/drawing/2014/main" id="{487FE7C2-5223-1991-7E1F-9D21740CE24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96932" y="-50800"/>
            <a:ext cx="1782000" cy="1188000"/>
          </a:xfrm>
          <a:prstGeom prst="rect">
            <a:avLst/>
          </a:prstGeom>
        </p:spPr>
      </p:pic>
    </p:spTree>
    <p:extLst>
      <p:ext uri="{BB962C8B-B14F-4D97-AF65-F5344CB8AC3E}">
        <p14:creationId xmlns:p14="http://schemas.microsoft.com/office/powerpoint/2010/main" val="1579878028"/>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9FD53-89DF-0B39-5E07-FA2CDA524E89}"/>
              </a:ext>
            </a:extLst>
          </p:cNvPr>
          <p:cNvSpPr>
            <a:spLocks noGrp="1"/>
          </p:cNvSpPr>
          <p:nvPr>
            <p:ph type="title"/>
          </p:nvPr>
        </p:nvSpPr>
        <p:spPr>
          <a:xfrm>
            <a:off x="7546216" y="801658"/>
            <a:ext cx="4520200" cy="3648422"/>
          </a:xfrm>
        </p:spPr>
        <p:txBody>
          <a:bodyPr vert="horz" lIns="91440" tIns="45720" rIns="91440" bIns="45720" rtlCol="0" anchor="b">
            <a:normAutofit/>
          </a:bodyPr>
          <a:lstStyle/>
          <a:p>
            <a:pPr>
              <a:lnSpc>
                <a:spcPct val="100000"/>
              </a:lnSpc>
            </a:pPr>
            <a:r>
              <a:rPr lang="en-US" sz="4000" dirty="0">
                <a:solidFill>
                  <a:schemeClr val="tx1"/>
                </a:solidFill>
                <a:effectLst>
                  <a:outerShdw blurRad="38100" dist="38100" dir="2700000" algn="tl">
                    <a:srgbClr val="000000">
                      <a:alpha val="43137"/>
                    </a:srgbClr>
                  </a:outerShdw>
                </a:effectLst>
                <a:latin typeface="Rockwell" panose="02060603020205020403" pitchFamily="18" charset="0"/>
              </a:rPr>
              <a:t>Graphical Representation  of Blockchain Technology</a:t>
            </a:r>
          </a:p>
        </p:txBody>
      </p:sp>
      <p:pic>
        <p:nvPicPr>
          <p:cNvPr id="7" name="Picture 6">
            <a:extLst>
              <a:ext uri="{FF2B5EF4-FFF2-40B4-BE49-F238E27FC236}">
                <a16:creationId xmlns:a16="http://schemas.microsoft.com/office/drawing/2014/main" id="{A897DE57-D3A9-6915-4509-7CE3947B6AB1}"/>
              </a:ext>
            </a:extLst>
          </p:cNvPr>
          <p:cNvPicPr>
            <a:picLocks noChangeAspect="1"/>
          </p:cNvPicPr>
          <p:nvPr/>
        </p:nvPicPr>
        <p:blipFill>
          <a:blip r:embed="rId2"/>
          <a:stretch>
            <a:fillRect/>
          </a:stretch>
        </p:blipFill>
        <p:spPr>
          <a:xfrm>
            <a:off x="451119" y="704681"/>
            <a:ext cx="6912217" cy="4924956"/>
          </a:xfrm>
          <a:prstGeom prst="rect">
            <a:avLst/>
          </a:prstGeom>
        </p:spPr>
      </p:pic>
      <p:pic>
        <p:nvPicPr>
          <p:cNvPr id="6" name="Picture 5">
            <a:extLst>
              <a:ext uri="{FF2B5EF4-FFF2-40B4-BE49-F238E27FC236}">
                <a16:creationId xmlns:a16="http://schemas.microsoft.com/office/drawing/2014/main" id="{9E052D07-7BD9-6B84-FB1A-0D8F8306F6B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96932" y="-50800"/>
            <a:ext cx="1782000" cy="1188000"/>
          </a:xfrm>
          <a:prstGeom prst="rect">
            <a:avLst/>
          </a:prstGeom>
        </p:spPr>
      </p:pic>
    </p:spTree>
    <p:extLst>
      <p:ext uri="{BB962C8B-B14F-4D97-AF65-F5344CB8AC3E}">
        <p14:creationId xmlns:p14="http://schemas.microsoft.com/office/powerpoint/2010/main" val="2468456169"/>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F7024AB-1CC5-748F-DEFF-B503D98A8C74}"/>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499597958"/>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theme/theme1.xml><?xml version="1.0" encoding="utf-8"?>
<a:theme xmlns:a="http://schemas.openxmlformats.org/drawingml/2006/main" name="Gallery">
  <a:themeElements>
    <a:clrScheme name="Custom 1">
      <a:dk1>
        <a:sysClr val="windowText" lastClr="000000"/>
      </a:dk1>
      <a:lt1>
        <a:srgbClr val="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552</TotalTime>
  <Words>794</Words>
  <Application>Microsoft Office PowerPoint</Application>
  <PresentationFormat>Widescreen</PresentationFormat>
  <Paragraphs>76</Paragraphs>
  <Slides>18</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18</vt:i4>
      </vt:variant>
    </vt:vector>
  </HeadingPairs>
  <TitlesOfParts>
    <vt:vector size="28" baseType="lpstr">
      <vt:lpstr>Arial</vt:lpstr>
      <vt:lpstr>Book Antiqua</vt:lpstr>
      <vt:lpstr>Bookman Old Style</vt:lpstr>
      <vt:lpstr>Calibri</vt:lpstr>
      <vt:lpstr>Gill Sans MT</vt:lpstr>
      <vt:lpstr>Lucida Calligraphy</vt:lpstr>
      <vt:lpstr>Raleway</vt:lpstr>
      <vt:lpstr>Rockwell</vt:lpstr>
      <vt:lpstr>Wingdings</vt:lpstr>
      <vt:lpstr>Gallery</vt:lpstr>
      <vt:lpstr>Dr.Mahalingam College of Engineering &amp; Technology</vt:lpstr>
      <vt:lpstr>PowerPoint Presentation</vt:lpstr>
      <vt:lpstr>History of Blockchain Technology</vt:lpstr>
      <vt:lpstr>Top 6 Main Features of Blockchain Technology</vt:lpstr>
      <vt:lpstr>Most Uses of Blockchain Technology</vt:lpstr>
      <vt:lpstr>PowerPoint Presentation</vt:lpstr>
      <vt:lpstr>Tamil Nadu’S First Blockchain Policy in 2020</vt:lpstr>
      <vt:lpstr>Languages for developing blockchain technology</vt:lpstr>
      <vt:lpstr>PowerPoint Presentation</vt:lpstr>
      <vt:lpstr>Blockchain development life cycle</vt:lpstr>
      <vt:lpstr>What does a blockchain engineer do?</vt:lpstr>
      <vt:lpstr>blockchain technology in industrial sector</vt:lpstr>
      <vt:lpstr>blockchain technology in industrial sector</vt:lpstr>
      <vt:lpstr>blockchain technology in industrial sector</vt:lpstr>
      <vt:lpstr>5 Blockchain application In Real Life</vt:lpstr>
      <vt:lpstr>Why Blockchain technology is the Future? </vt:lpstr>
      <vt:lpstr>Graphical Representation  of Blockchain Technology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sujitha venkidusamy</dc:creator>
  <cp:lastModifiedBy>GSD KARTHICK PRANESH</cp:lastModifiedBy>
  <cp:revision>7</cp:revision>
  <dcterms:created xsi:type="dcterms:W3CDTF">2023-04-30T10:37:50Z</dcterms:created>
  <dcterms:modified xsi:type="dcterms:W3CDTF">2025-02-09T12:09:04Z</dcterms:modified>
</cp:coreProperties>
</file>